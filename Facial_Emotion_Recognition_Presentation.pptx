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678"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6656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863840" y="0"/>
            <a:ext cx="4325112" cy="6858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548640"/>
            <a:ext cx="7132320" cy="384048"/>
          </a:xfrm>
          <a:prstGeom prst="rect">
            <a:avLst/>
          </a:prstGeom>
          <a:noFill/>
        </p:spPr>
        <p:txBody>
          <a:bodyPr wrap="square">
            <a:spAutoFit/>
          </a:bodyPr>
          <a:lstStyle/>
          <a:p>
            <a:pPr algn="l"/>
            <a:r>
              <a:rPr sz="1200" b="1" i="0">
                <a:solidFill>
                  <a:srgbClr val="F59E0B"/>
                </a:solidFill>
                <a:latin typeface="Calibri"/>
              </a:rPr>
              <a:t>FACIAL EMOTION RECOGNITION</a:t>
            </a:r>
          </a:p>
        </p:txBody>
      </p:sp>
      <p:sp>
        <p:nvSpPr>
          <p:cNvPr id="7" name="TextBox 6"/>
          <p:cNvSpPr txBox="1"/>
          <p:nvPr/>
        </p:nvSpPr>
        <p:spPr>
          <a:xfrm>
            <a:off x="457200" y="987552"/>
            <a:ext cx="7132320" cy="1417320"/>
          </a:xfrm>
          <a:prstGeom prst="rect">
            <a:avLst/>
          </a:prstGeom>
          <a:noFill/>
        </p:spPr>
        <p:txBody>
          <a:bodyPr wrap="square">
            <a:spAutoFit/>
          </a:bodyPr>
          <a:lstStyle/>
          <a:p>
            <a:pPr algn="l"/>
            <a:r>
              <a:rPr sz="3600" b="1" i="0">
                <a:solidFill>
                  <a:srgbClr val="FFFFFF"/>
                </a:solidFill>
                <a:latin typeface="Calibri"/>
              </a:rPr>
              <a:t>Deep Learning
Convolutional Neural Network</a:t>
            </a:r>
          </a:p>
        </p:txBody>
      </p:sp>
      <p:sp>
        <p:nvSpPr>
          <p:cNvPr id="8" name="TextBox 7"/>
          <p:cNvSpPr txBox="1"/>
          <p:nvPr/>
        </p:nvSpPr>
        <p:spPr>
          <a:xfrm>
            <a:off x="457200" y="2542032"/>
            <a:ext cx="7132320" cy="502920"/>
          </a:xfrm>
          <a:prstGeom prst="rect">
            <a:avLst/>
          </a:prstGeom>
          <a:noFill/>
        </p:spPr>
        <p:txBody>
          <a:bodyPr wrap="square">
            <a:spAutoFit/>
          </a:bodyPr>
          <a:lstStyle/>
          <a:p>
            <a:pPr algn="l"/>
            <a:r>
              <a:rPr sz="1150" b="0" i="0">
                <a:solidFill>
                  <a:srgbClr val="B2DFDB"/>
                </a:solidFill>
                <a:latin typeface="Calibri"/>
              </a:rPr>
              <a:t>Real-time emotion detection from facial images — 7-class CNN trained on FER2013 dataset with data augmentation, batch normalisation, and Gradio deployment</a:t>
            </a:r>
          </a:p>
        </p:txBody>
      </p:sp>
      <p:sp>
        <p:nvSpPr>
          <p:cNvPr id="9" name="Rectangle 8"/>
          <p:cNvSpPr/>
          <p:nvPr/>
        </p:nvSpPr>
        <p:spPr>
          <a:xfrm>
            <a:off x="457200" y="3182112"/>
            <a:ext cx="2926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364992"/>
            <a:ext cx="7132320" cy="475488"/>
          </a:xfrm>
          <a:prstGeom prst="rect">
            <a:avLst/>
          </a:prstGeom>
          <a:noFill/>
        </p:spPr>
        <p:txBody>
          <a:bodyPr wrap="square">
            <a:spAutoFit/>
          </a:bodyPr>
          <a:lstStyle/>
          <a:p>
            <a:pPr algn="l"/>
            <a:r>
              <a:rPr sz="2200" b="1" i="0">
                <a:solidFill>
                  <a:srgbClr val="FFFFFF"/>
                </a:solidFill>
                <a:latin typeface="Calibri"/>
              </a:rPr>
              <a:t>Vishal Kumar Singh</a:t>
            </a:r>
          </a:p>
        </p:txBody>
      </p:sp>
      <p:sp>
        <p:nvSpPr>
          <p:cNvPr id="11" name="TextBox 10"/>
          <p:cNvSpPr txBox="1"/>
          <p:nvPr/>
        </p:nvSpPr>
        <p:spPr>
          <a:xfrm>
            <a:off x="457200" y="3886200"/>
            <a:ext cx="6400800" cy="292608"/>
          </a:xfrm>
          <a:prstGeom prst="rect">
            <a:avLst/>
          </a:prstGeom>
          <a:noFill/>
        </p:spPr>
        <p:txBody>
          <a:bodyPr wrap="square">
            <a:spAutoFit/>
          </a:bodyPr>
          <a:lstStyle/>
          <a:p>
            <a:pPr algn="l"/>
            <a:r>
              <a:rPr sz="1200" b="0" i="0">
                <a:solidFill>
                  <a:srgbClr val="B2DFDB"/>
                </a:solidFill>
                <a:latin typeface="Calibri"/>
              </a:rPr>
              <a:t>AlmaBetter  |  M.Sc. Data Science  |  2026</a:t>
            </a:r>
          </a:p>
        </p:txBody>
      </p:sp>
      <p:sp>
        <p:nvSpPr>
          <p:cNvPr id="12" name="Rounded Rectangle 11"/>
          <p:cNvSpPr/>
          <p:nvPr/>
        </p:nvSpPr>
        <p:spPr>
          <a:xfrm>
            <a:off x="8092440" y="123444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92440" y="1417320"/>
            <a:ext cx="1920240" cy="640080"/>
          </a:xfrm>
          <a:prstGeom prst="rect">
            <a:avLst/>
          </a:prstGeom>
          <a:noFill/>
        </p:spPr>
        <p:txBody>
          <a:bodyPr wrap="square">
            <a:spAutoFit/>
          </a:bodyPr>
          <a:lstStyle/>
          <a:p>
            <a:pPr algn="ctr"/>
            <a:r>
              <a:rPr sz="2200" b="1" i="0">
                <a:solidFill>
                  <a:srgbClr val="F59E0B"/>
                </a:solidFill>
                <a:latin typeface="Calibri"/>
              </a:rPr>
              <a:t>7</a:t>
            </a:r>
          </a:p>
        </p:txBody>
      </p:sp>
      <p:sp>
        <p:nvSpPr>
          <p:cNvPr id="14" name="TextBox 13"/>
          <p:cNvSpPr txBox="1"/>
          <p:nvPr/>
        </p:nvSpPr>
        <p:spPr>
          <a:xfrm>
            <a:off x="8092440" y="2103120"/>
            <a:ext cx="1920240" cy="594360"/>
          </a:xfrm>
          <a:prstGeom prst="rect">
            <a:avLst/>
          </a:prstGeom>
          <a:noFill/>
        </p:spPr>
        <p:txBody>
          <a:bodyPr wrap="square">
            <a:spAutoFit/>
          </a:bodyPr>
          <a:lstStyle/>
          <a:p>
            <a:pPr algn="ctr"/>
            <a:r>
              <a:rPr sz="1100" b="0" i="0">
                <a:solidFill>
                  <a:srgbClr val="FFFFFF"/>
                </a:solidFill>
                <a:latin typeface="Calibri"/>
              </a:rPr>
              <a:t>Emotion Classes
Anger→Neutral</a:t>
            </a:r>
          </a:p>
        </p:txBody>
      </p:sp>
      <p:sp>
        <p:nvSpPr>
          <p:cNvPr id="15" name="Rounded Rectangle 14"/>
          <p:cNvSpPr/>
          <p:nvPr/>
        </p:nvSpPr>
        <p:spPr>
          <a:xfrm>
            <a:off x="10177271" y="123444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77271" y="1417320"/>
            <a:ext cx="1920240" cy="640080"/>
          </a:xfrm>
          <a:prstGeom prst="rect">
            <a:avLst/>
          </a:prstGeom>
          <a:noFill/>
        </p:spPr>
        <p:txBody>
          <a:bodyPr wrap="square">
            <a:spAutoFit/>
          </a:bodyPr>
          <a:lstStyle/>
          <a:p>
            <a:pPr algn="ctr"/>
            <a:r>
              <a:rPr sz="2200" b="1" i="0">
                <a:solidFill>
                  <a:srgbClr val="F59E0B"/>
                </a:solidFill>
                <a:latin typeface="Calibri"/>
              </a:rPr>
              <a:t>FER2013</a:t>
            </a:r>
          </a:p>
        </p:txBody>
      </p:sp>
      <p:sp>
        <p:nvSpPr>
          <p:cNvPr id="17" name="TextBox 16"/>
          <p:cNvSpPr txBox="1"/>
          <p:nvPr/>
        </p:nvSpPr>
        <p:spPr>
          <a:xfrm>
            <a:off x="10177271" y="2103120"/>
            <a:ext cx="1920240" cy="594360"/>
          </a:xfrm>
          <a:prstGeom prst="rect">
            <a:avLst/>
          </a:prstGeom>
          <a:noFill/>
        </p:spPr>
        <p:txBody>
          <a:bodyPr wrap="square">
            <a:spAutoFit/>
          </a:bodyPr>
          <a:lstStyle/>
          <a:p>
            <a:pPr algn="ctr"/>
            <a:r>
              <a:rPr sz="1100" b="0" i="0">
                <a:solidFill>
                  <a:srgbClr val="FFFFFF"/>
                </a:solidFill>
                <a:latin typeface="Calibri"/>
              </a:rPr>
              <a:t>Standard Benchmark
Dataset</a:t>
            </a:r>
          </a:p>
        </p:txBody>
      </p:sp>
      <p:sp>
        <p:nvSpPr>
          <p:cNvPr id="18" name="Rounded Rectangle 17"/>
          <p:cNvSpPr/>
          <p:nvPr/>
        </p:nvSpPr>
        <p:spPr>
          <a:xfrm>
            <a:off x="8092440" y="315468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92440" y="3337560"/>
            <a:ext cx="1920240" cy="640080"/>
          </a:xfrm>
          <a:prstGeom prst="rect">
            <a:avLst/>
          </a:prstGeom>
          <a:noFill/>
        </p:spPr>
        <p:txBody>
          <a:bodyPr wrap="square">
            <a:spAutoFit/>
          </a:bodyPr>
          <a:lstStyle/>
          <a:p>
            <a:pPr algn="ctr"/>
            <a:r>
              <a:rPr sz="2200" b="1" i="0">
                <a:solidFill>
                  <a:srgbClr val="F59E0B"/>
                </a:solidFill>
                <a:latin typeface="Calibri"/>
              </a:rPr>
              <a:t>CNN</a:t>
            </a:r>
          </a:p>
        </p:txBody>
      </p:sp>
      <p:sp>
        <p:nvSpPr>
          <p:cNvPr id="20" name="TextBox 19"/>
          <p:cNvSpPr txBox="1"/>
          <p:nvPr/>
        </p:nvSpPr>
        <p:spPr>
          <a:xfrm>
            <a:off x="8092440" y="4023360"/>
            <a:ext cx="1920240" cy="594360"/>
          </a:xfrm>
          <a:prstGeom prst="rect">
            <a:avLst/>
          </a:prstGeom>
          <a:noFill/>
        </p:spPr>
        <p:txBody>
          <a:bodyPr wrap="square">
            <a:spAutoFit/>
          </a:bodyPr>
          <a:lstStyle/>
          <a:p>
            <a:pPr algn="ctr"/>
            <a:r>
              <a:rPr sz="1100" b="0" i="0">
                <a:solidFill>
                  <a:srgbClr val="FFFFFF"/>
                </a:solidFill>
                <a:latin typeface="Calibri"/>
              </a:rPr>
              <a:t>Conv2D + BN +
Global Avg Pool</a:t>
            </a:r>
          </a:p>
        </p:txBody>
      </p:sp>
      <p:sp>
        <p:nvSpPr>
          <p:cNvPr id="21" name="Rounded Rectangle 20"/>
          <p:cNvSpPr/>
          <p:nvPr/>
        </p:nvSpPr>
        <p:spPr>
          <a:xfrm>
            <a:off x="10177271" y="315468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77271" y="3337560"/>
            <a:ext cx="1920240" cy="640080"/>
          </a:xfrm>
          <a:prstGeom prst="rect">
            <a:avLst/>
          </a:prstGeom>
          <a:noFill/>
        </p:spPr>
        <p:txBody>
          <a:bodyPr wrap="square">
            <a:spAutoFit/>
          </a:bodyPr>
          <a:lstStyle/>
          <a:p>
            <a:pPr algn="ctr"/>
            <a:r>
              <a:rPr sz="2200" b="1" i="0">
                <a:solidFill>
                  <a:srgbClr val="F59E0B"/>
                </a:solidFill>
                <a:latin typeface="Calibri"/>
              </a:rPr>
              <a:t>Gradio</a:t>
            </a:r>
          </a:p>
        </p:txBody>
      </p:sp>
      <p:sp>
        <p:nvSpPr>
          <p:cNvPr id="23" name="TextBox 22"/>
          <p:cNvSpPr txBox="1"/>
          <p:nvPr/>
        </p:nvSpPr>
        <p:spPr>
          <a:xfrm>
            <a:off x="10177271" y="4023360"/>
            <a:ext cx="1920240" cy="594360"/>
          </a:xfrm>
          <a:prstGeom prst="rect">
            <a:avLst/>
          </a:prstGeom>
          <a:noFill/>
        </p:spPr>
        <p:txBody>
          <a:bodyPr wrap="square">
            <a:spAutoFit/>
          </a:bodyPr>
          <a:lstStyle/>
          <a:p>
            <a:pPr algn="ctr"/>
            <a:r>
              <a:rPr sz="1100" b="0" i="0">
                <a:solidFill>
                  <a:srgbClr val="FFFFFF"/>
                </a:solidFill>
                <a:latin typeface="Calibri"/>
              </a:rPr>
              <a:t>Web Deployment
Shareable Link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Presentation Agenda</a:t>
            </a:r>
          </a:p>
        </p:txBody>
      </p:sp>
      <p:sp>
        <p:nvSpPr>
          <p:cNvPr id="6" name="Rectangle 5"/>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8" name="Rounded Rectangle 7"/>
          <p:cNvSpPr/>
          <p:nvPr/>
        </p:nvSpPr>
        <p:spPr>
          <a:xfrm>
            <a:off x="365760" y="1296297"/>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360305"/>
            <a:ext cx="438912" cy="274320"/>
          </a:xfrm>
          <a:prstGeom prst="rect">
            <a:avLst/>
          </a:prstGeom>
          <a:noFill/>
        </p:spPr>
        <p:txBody>
          <a:bodyPr wrap="square">
            <a:spAutoFit/>
          </a:bodyPr>
          <a:lstStyle/>
          <a:p>
            <a:pPr algn="ctr"/>
            <a:r>
              <a:rPr sz="1100" b="1" i="0">
                <a:solidFill>
                  <a:srgbClr val="FFFFFF"/>
                </a:solidFill>
                <a:latin typeface="Calibri"/>
              </a:rPr>
              <a:t>01</a:t>
            </a:r>
          </a:p>
        </p:txBody>
      </p:sp>
      <p:sp>
        <p:nvSpPr>
          <p:cNvPr id="10" name="TextBox 9"/>
          <p:cNvSpPr txBox="1"/>
          <p:nvPr/>
        </p:nvSpPr>
        <p:spPr>
          <a:xfrm>
            <a:off x="932688" y="1378593"/>
            <a:ext cx="10881360" cy="274320"/>
          </a:xfrm>
          <a:prstGeom prst="rect">
            <a:avLst/>
          </a:prstGeom>
          <a:noFill/>
        </p:spPr>
        <p:txBody>
          <a:bodyPr wrap="square">
            <a:spAutoFit/>
          </a:bodyPr>
          <a:lstStyle/>
          <a:p>
            <a:pPr algn="l"/>
            <a:r>
              <a:rPr sz="1400" b="0" i="0">
                <a:solidFill>
                  <a:srgbClr val="212121"/>
                </a:solidFill>
                <a:latin typeface="Calibri"/>
              </a:rPr>
              <a:t>Project Overview &amp; The Facial Emotion Recognition Problem</a:t>
            </a:r>
          </a:p>
        </p:txBody>
      </p:sp>
      <p:sp>
        <p:nvSpPr>
          <p:cNvPr id="11" name="Rounded Rectangle 10"/>
          <p:cNvSpPr/>
          <p:nvPr/>
        </p:nvSpPr>
        <p:spPr>
          <a:xfrm>
            <a:off x="365760" y="1826649"/>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90657"/>
            <a:ext cx="438912" cy="274320"/>
          </a:xfrm>
          <a:prstGeom prst="rect">
            <a:avLst/>
          </a:prstGeom>
          <a:noFill/>
        </p:spPr>
        <p:txBody>
          <a:bodyPr wrap="square">
            <a:spAutoFit/>
          </a:bodyPr>
          <a:lstStyle/>
          <a:p>
            <a:pPr algn="ctr"/>
            <a:r>
              <a:rPr sz="1100" b="1" i="0">
                <a:solidFill>
                  <a:srgbClr val="FFFFFF"/>
                </a:solidFill>
                <a:latin typeface="Calibri"/>
              </a:rPr>
              <a:t>02</a:t>
            </a:r>
          </a:p>
        </p:txBody>
      </p:sp>
      <p:sp>
        <p:nvSpPr>
          <p:cNvPr id="13" name="TextBox 12"/>
          <p:cNvSpPr txBox="1"/>
          <p:nvPr/>
        </p:nvSpPr>
        <p:spPr>
          <a:xfrm>
            <a:off x="932688" y="1908945"/>
            <a:ext cx="10881360" cy="274320"/>
          </a:xfrm>
          <a:prstGeom prst="rect">
            <a:avLst/>
          </a:prstGeom>
          <a:noFill/>
        </p:spPr>
        <p:txBody>
          <a:bodyPr wrap="square">
            <a:spAutoFit/>
          </a:bodyPr>
          <a:lstStyle/>
          <a:p>
            <a:pPr algn="l"/>
            <a:r>
              <a:rPr sz="1400" b="0" i="0">
                <a:solidFill>
                  <a:srgbClr val="212121"/>
                </a:solidFill>
                <a:latin typeface="Calibri"/>
              </a:rPr>
              <a:t>FER2013 Dataset — Structure, Classes &amp; Distribution</a:t>
            </a:r>
          </a:p>
        </p:txBody>
      </p:sp>
      <p:sp>
        <p:nvSpPr>
          <p:cNvPr id="14" name="Rounded Rectangle 13"/>
          <p:cNvSpPr/>
          <p:nvPr/>
        </p:nvSpPr>
        <p:spPr>
          <a:xfrm>
            <a:off x="365760" y="2357001"/>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421009"/>
            <a:ext cx="438912" cy="274320"/>
          </a:xfrm>
          <a:prstGeom prst="rect">
            <a:avLst/>
          </a:prstGeom>
          <a:noFill/>
        </p:spPr>
        <p:txBody>
          <a:bodyPr wrap="square">
            <a:spAutoFit/>
          </a:bodyPr>
          <a:lstStyle/>
          <a:p>
            <a:pPr algn="ctr"/>
            <a:r>
              <a:rPr sz="1100" b="1" i="0">
                <a:solidFill>
                  <a:srgbClr val="FFFFFF"/>
                </a:solidFill>
                <a:latin typeface="Calibri"/>
              </a:rPr>
              <a:t>03</a:t>
            </a:r>
          </a:p>
        </p:txBody>
      </p:sp>
      <p:sp>
        <p:nvSpPr>
          <p:cNvPr id="16" name="TextBox 15"/>
          <p:cNvSpPr txBox="1"/>
          <p:nvPr/>
        </p:nvSpPr>
        <p:spPr>
          <a:xfrm>
            <a:off x="932688" y="2439297"/>
            <a:ext cx="10881360" cy="274320"/>
          </a:xfrm>
          <a:prstGeom prst="rect">
            <a:avLst/>
          </a:prstGeom>
          <a:noFill/>
        </p:spPr>
        <p:txBody>
          <a:bodyPr wrap="square">
            <a:spAutoFit/>
          </a:bodyPr>
          <a:lstStyle/>
          <a:p>
            <a:pPr algn="l"/>
            <a:r>
              <a:rPr sz="1400" b="0" i="0">
                <a:solidFill>
                  <a:srgbClr val="212121"/>
                </a:solidFill>
                <a:latin typeface="Calibri"/>
              </a:rPr>
              <a:t>CNN Architecture — Layer-by-Layer Design Decisions</a:t>
            </a:r>
          </a:p>
        </p:txBody>
      </p:sp>
      <p:sp>
        <p:nvSpPr>
          <p:cNvPr id="17" name="Rounded Rectangle 16"/>
          <p:cNvSpPr/>
          <p:nvPr/>
        </p:nvSpPr>
        <p:spPr>
          <a:xfrm>
            <a:off x="365760" y="2887353"/>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951361"/>
            <a:ext cx="438912" cy="274320"/>
          </a:xfrm>
          <a:prstGeom prst="rect">
            <a:avLst/>
          </a:prstGeom>
          <a:noFill/>
        </p:spPr>
        <p:txBody>
          <a:bodyPr wrap="square">
            <a:spAutoFit/>
          </a:bodyPr>
          <a:lstStyle/>
          <a:p>
            <a:pPr algn="ctr"/>
            <a:r>
              <a:rPr sz="1100" b="1" i="0">
                <a:solidFill>
                  <a:srgbClr val="FFFFFF"/>
                </a:solidFill>
                <a:latin typeface="Calibri"/>
              </a:rPr>
              <a:t>04</a:t>
            </a:r>
          </a:p>
        </p:txBody>
      </p:sp>
      <p:sp>
        <p:nvSpPr>
          <p:cNvPr id="19" name="TextBox 18"/>
          <p:cNvSpPr txBox="1"/>
          <p:nvPr/>
        </p:nvSpPr>
        <p:spPr>
          <a:xfrm>
            <a:off x="932688" y="2969649"/>
            <a:ext cx="10881360" cy="274320"/>
          </a:xfrm>
          <a:prstGeom prst="rect">
            <a:avLst/>
          </a:prstGeom>
          <a:noFill/>
        </p:spPr>
        <p:txBody>
          <a:bodyPr wrap="square">
            <a:spAutoFit/>
          </a:bodyPr>
          <a:lstStyle/>
          <a:p>
            <a:pPr algn="l"/>
            <a:r>
              <a:rPr sz="1400" b="0" i="0">
                <a:solidFill>
                  <a:srgbClr val="212121"/>
                </a:solidFill>
                <a:latin typeface="Calibri"/>
              </a:rPr>
              <a:t>Data Augmentation &amp; Preprocessing</a:t>
            </a:r>
          </a:p>
        </p:txBody>
      </p:sp>
      <p:sp>
        <p:nvSpPr>
          <p:cNvPr id="20" name="Rounded Rectangle 19"/>
          <p:cNvSpPr/>
          <p:nvPr/>
        </p:nvSpPr>
        <p:spPr>
          <a:xfrm>
            <a:off x="365760" y="3417705"/>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3481713"/>
            <a:ext cx="438912" cy="274320"/>
          </a:xfrm>
          <a:prstGeom prst="rect">
            <a:avLst/>
          </a:prstGeom>
          <a:noFill/>
        </p:spPr>
        <p:txBody>
          <a:bodyPr wrap="square">
            <a:spAutoFit/>
          </a:bodyPr>
          <a:lstStyle/>
          <a:p>
            <a:pPr algn="ctr"/>
            <a:r>
              <a:rPr sz="1100" b="1" i="0">
                <a:solidFill>
                  <a:srgbClr val="FFFFFF"/>
                </a:solidFill>
                <a:latin typeface="Calibri"/>
              </a:rPr>
              <a:t>05</a:t>
            </a:r>
          </a:p>
        </p:txBody>
      </p:sp>
      <p:sp>
        <p:nvSpPr>
          <p:cNvPr id="22" name="TextBox 21"/>
          <p:cNvSpPr txBox="1"/>
          <p:nvPr/>
        </p:nvSpPr>
        <p:spPr>
          <a:xfrm>
            <a:off x="932688" y="3500001"/>
            <a:ext cx="10881360" cy="274320"/>
          </a:xfrm>
          <a:prstGeom prst="rect">
            <a:avLst/>
          </a:prstGeom>
          <a:noFill/>
        </p:spPr>
        <p:txBody>
          <a:bodyPr wrap="square">
            <a:spAutoFit/>
          </a:bodyPr>
          <a:lstStyle/>
          <a:p>
            <a:pPr algn="l"/>
            <a:r>
              <a:rPr sz="1400" b="0" i="0">
                <a:solidFill>
                  <a:srgbClr val="212121"/>
                </a:solidFill>
                <a:latin typeface="Calibri"/>
              </a:rPr>
              <a:t>Model Training — Callbacks &amp; Training Strategy</a:t>
            </a:r>
          </a:p>
        </p:txBody>
      </p:sp>
      <p:sp>
        <p:nvSpPr>
          <p:cNvPr id="23" name="Rounded Rectangle 22"/>
          <p:cNvSpPr/>
          <p:nvPr/>
        </p:nvSpPr>
        <p:spPr>
          <a:xfrm>
            <a:off x="365760" y="3948057"/>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4012065"/>
            <a:ext cx="438912" cy="274320"/>
          </a:xfrm>
          <a:prstGeom prst="rect">
            <a:avLst/>
          </a:prstGeom>
          <a:noFill/>
        </p:spPr>
        <p:txBody>
          <a:bodyPr wrap="square">
            <a:spAutoFit/>
          </a:bodyPr>
          <a:lstStyle/>
          <a:p>
            <a:pPr algn="ctr"/>
            <a:r>
              <a:rPr sz="1100" b="1" i="0">
                <a:solidFill>
                  <a:srgbClr val="FFFFFF"/>
                </a:solidFill>
                <a:latin typeface="Calibri"/>
              </a:rPr>
              <a:t>06</a:t>
            </a:r>
          </a:p>
        </p:txBody>
      </p:sp>
      <p:sp>
        <p:nvSpPr>
          <p:cNvPr id="25" name="TextBox 24"/>
          <p:cNvSpPr txBox="1"/>
          <p:nvPr/>
        </p:nvSpPr>
        <p:spPr>
          <a:xfrm>
            <a:off x="932688" y="4030353"/>
            <a:ext cx="10881360" cy="274320"/>
          </a:xfrm>
          <a:prstGeom prst="rect">
            <a:avLst/>
          </a:prstGeom>
          <a:noFill/>
        </p:spPr>
        <p:txBody>
          <a:bodyPr wrap="square">
            <a:spAutoFit/>
          </a:bodyPr>
          <a:lstStyle/>
          <a:p>
            <a:pPr algn="l"/>
            <a:r>
              <a:rPr sz="1400" b="0" i="0">
                <a:solidFill>
                  <a:srgbClr val="212121"/>
                </a:solidFill>
                <a:latin typeface="Calibri"/>
              </a:rPr>
              <a:t>Training Results — Accuracy &amp; Loss Curves (from notebook)</a:t>
            </a:r>
          </a:p>
        </p:txBody>
      </p:sp>
      <p:sp>
        <p:nvSpPr>
          <p:cNvPr id="26" name="Rounded Rectangle 25"/>
          <p:cNvSpPr/>
          <p:nvPr/>
        </p:nvSpPr>
        <p:spPr>
          <a:xfrm>
            <a:off x="365760" y="4478409"/>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542417"/>
            <a:ext cx="438912" cy="274320"/>
          </a:xfrm>
          <a:prstGeom prst="rect">
            <a:avLst/>
          </a:prstGeom>
          <a:noFill/>
        </p:spPr>
        <p:txBody>
          <a:bodyPr wrap="square">
            <a:spAutoFit/>
          </a:bodyPr>
          <a:lstStyle/>
          <a:p>
            <a:pPr algn="ctr"/>
            <a:r>
              <a:rPr sz="1100" b="1" i="0">
                <a:solidFill>
                  <a:srgbClr val="FFFFFF"/>
                </a:solidFill>
                <a:latin typeface="Calibri"/>
              </a:rPr>
              <a:t>07</a:t>
            </a:r>
          </a:p>
        </p:txBody>
      </p:sp>
      <p:sp>
        <p:nvSpPr>
          <p:cNvPr id="28" name="TextBox 27"/>
          <p:cNvSpPr txBox="1"/>
          <p:nvPr/>
        </p:nvSpPr>
        <p:spPr>
          <a:xfrm>
            <a:off x="932688" y="4560705"/>
            <a:ext cx="10881360" cy="274320"/>
          </a:xfrm>
          <a:prstGeom prst="rect">
            <a:avLst/>
          </a:prstGeom>
          <a:noFill/>
        </p:spPr>
        <p:txBody>
          <a:bodyPr wrap="square">
            <a:spAutoFit/>
          </a:bodyPr>
          <a:lstStyle/>
          <a:p>
            <a:pPr algn="l"/>
            <a:r>
              <a:rPr sz="1400" b="0" i="0">
                <a:solidFill>
                  <a:srgbClr val="212121"/>
                </a:solidFill>
                <a:latin typeface="Calibri"/>
              </a:rPr>
              <a:t>Model Evaluation — Per-Class Performance &amp; Confusion Matrix</a:t>
            </a:r>
          </a:p>
        </p:txBody>
      </p:sp>
      <p:sp>
        <p:nvSpPr>
          <p:cNvPr id="29" name="Rounded Rectangle 28"/>
          <p:cNvSpPr/>
          <p:nvPr/>
        </p:nvSpPr>
        <p:spPr>
          <a:xfrm>
            <a:off x="365760" y="5008761"/>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5072769"/>
            <a:ext cx="438912" cy="274320"/>
          </a:xfrm>
          <a:prstGeom prst="rect">
            <a:avLst/>
          </a:prstGeom>
          <a:noFill/>
        </p:spPr>
        <p:txBody>
          <a:bodyPr wrap="square">
            <a:spAutoFit/>
          </a:bodyPr>
          <a:lstStyle/>
          <a:p>
            <a:pPr algn="ctr"/>
            <a:r>
              <a:rPr sz="1100" b="1" i="0">
                <a:solidFill>
                  <a:srgbClr val="FFFFFF"/>
                </a:solidFill>
                <a:latin typeface="Calibri"/>
              </a:rPr>
              <a:t>08</a:t>
            </a:r>
          </a:p>
        </p:txBody>
      </p:sp>
      <p:sp>
        <p:nvSpPr>
          <p:cNvPr id="31" name="TextBox 30"/>
          <p:cNvSpPr txBox="1"/>
          <p:nvPr/>
        </p:nvSpPr>
        <p:spPr>
          <a:xfrm>
            <a:off x="932688" y="5091057"/>
            <a:ext cx="10881360" cy="274320"/>
          </a:xfrm>
          <a:prstGeom prst="rect">
            <a:avLst/>
          </a:prstGeom>
          <a:noFill/>
        </p:spPr>
        <p:txBody>
          <a:bodyPr wrap="square">
            <a:spAutoFit/>
          </a:bodyPr>
          <a:lstStyle/>
          <a:p>
            <a:pPr algn="l"/>
            <a:r>
              <a:rPr sz="1400" b="0" i="0">
                <a:solidFill>
                  <a:srgbClr val="212121"/>
                </a:solidFill>
                <a:latin typeface="Calibri"/>
              </a:rPr>
              <a:t>Deployment via Gradio — Real-Time Web Interface</a:t>
            </a:r>
          </a:p>
        </p:txBody>
      </p:sp>
      <p:sp>
        <p:nvSpPr>
          <p:cNvPr id="32" name="Rounded Rectangle 31"/>
          <p:cNvSpPr/>
          <p:nvPr/>
        </p:nvSpPr>
        <p:spPr>
          <a:xfrm>
            <a:off x="365760" y="5539113"/>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5760" y="5603121"/>
            <a:ext cx="438912" cy="274320"/>
          </a:xfrm>
          <a:prstGeom prst="rect">
            <a:avLst/>
          </a:prstGeom>
          <a:noFill/>
        </p:spPr>
        <p:txBody>
          <a:bodyPr wrap="square">
            <a:spAutoFit/>
          </a:bodyPr>
          <a:lstStyle/>
          <a:p>
            <a:pPr algn="ctr"/>
            <a:r>
              <a:rPr sz="1100" b="1" i="0">
                <a:solidFill>
                  <a:srgbClr val="FFFFFF"/>
                </a:solidFill>
                <a:latin typeface="Calibri"/>
              </a:rPr>
              <a:t>09</a:t>
            </a:r>
          </a:p>
        </p:txBody>
      </p:sp>
      <p:sp>
        <p:nvSpPr>
          <p:cNvPr id="34" name="TextBox 33"/>
          <p:cNvSpPr txBox="1"/>
          <p:nvPr/>
        </p:nvSpPr>
        <p:spPr>
          <a:xfrm>
            <a:off x="932688" y="5621409"/>
            <a:ext cx="10881360" cy="274320"/>
          </a:xfrm>
          <a:prstGeom prst="rect">
            <a:avLst/>
          </a:prstGeom>
          <a:noFill/>
        </p:spPr>
        <p:txBody>
          <a:bodyPr wrap="square">
            <a:spAutoFit/>
          </a:bodyPr>
          <a:lstStyle/>
          <a:p>
            <a:pPr algn="l"/>
            <a:r>
              <a:rPr sz="1400" b="0" i="0">
                <a:solidFill>
                  <a:srgbClr val="212121"/>
                </a:solidFill>
                <a:latin typeface="Calibri"/>
              </a:rPr>
              <a:t>Model Limitations, Challenges &amp; Future Work</a:t>
            </a:r>
          </a:p>
        </p:txBody>
      </p:sp>
      <p:sp>
        <p:nvSpPr>
          <p:cNvPr id="35" name="Rounded Rectangle 34"/>
          <p:cNvSpPr/>
          <p:nvPr/>
        </p:nvSpPr>
        <p:spPr>
          <a:xfrm>
            <a:off x="365760" y="6056018"/>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6133473"/>
            <a:ext cx="438912" cy="274320"/>
          </a:xfrm>
          <a:prstGeom prst="rect">
            <a:avLst/>
          </a:prstGeom>
          <a:noFill/>
        </p:spPr>
        <p:txBody>
          <a:bodyPr wrap="square">
            <a:spAutoFit/>
          </a:bodyPr>
          <a:lstStyle/>
          <a:p>
            <a:pPr algn="ctr"/>
            <a:r>
              <a:rPr sz="1100" b="1" i="0">
                <a:solidFill>
                  <a:srgbClr val="FFFFFF"/>
                </a:solidFill>
                <a:latin typeface="Calibri"/>
              </a:rPr>
              <a:t>10</a:t>
            </a:r>
          </a:p>
        </p:txBody>
      </p:sp>
      <p:sp>
        <p:nvSpPr>
          <p:cNvPr id="37" name="TextBox 36"/>
          <p:cNvSpPr txBox="1"/>
          <p:nvPr/>
        </p:nvSpPr>
        <p:spPr>
          <a:xfrm>
            <a:off x="932688" y="6111420"/>
            <a:ext cx="10881360" cy="274320"/>
          </a:xfrm>
          <a:prstGeom prst="rect">
            <a:avLst/>
          </a:prstGeom>
          <a:noFill/>
        </p:spPr>
        <p:txBody>
          <a:bodyPr wrap="square">
            <a:spAutoFit/>
          </a:bodyPr>
          <a:lstStyle/>
          <a:p>
            <a:pPr algn="l"/>
            <a:r>
              <a:rPr sz="1400" b="0" i="0">
                <a:solidFill>
                  <a:srgbClr val="212121"/>
                </a:solidFill>
                <a:latin typeface="Calibri"/>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Project Overview &amp; Business Problem</a:t>
            </a:r>
          </a:p>
        </p:txBody>
      </p:sp>
      <p:sp>
        <p:nvSpPr>
          <p:cNvPr id="6" name="Rectangle 5"/>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8" name="Rounded Rectangle 7"/>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0" name="TextBox 9"/>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Design, train, and deploy a Convolutional Neural Network that classifies human facial expressions into 7 emotion categories from 48×48 grayscale images in real time.</a:t>
            </a:r>
          </a:p>
        </p:txBody>
      </p:sp>
      <p:sp>
        <p:nvSpPr>
          <p:cNvPr id="11" name="Rounded Rectangle 10"/>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3" name="TextBox 12"/>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FER2013 benchmark dataset → CNN (Conv2D + BatchNorm + GlobalAvgPool) → callbacks → evaluation on test set → Gradio web interface for live demo</a:t>
            </a:r>
          </a:p>
        </p:txBody>
      </p:sp>
      <p:sp>
        <p:nvSpPr>
          <p:cNvPr id="14" name="Rectangle 13"/>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 y="2066544"/>
            <a:ext cx="5760720" cy="292608"/>
          </a:xfrm>
          <a:prstGeom prst="rect">
            <a:avLst/>
          </a:prstGeom>
          <a:noFill/>
        </p:spPr>
        <p:txBody>
          <a:bodyPr wrap="square">
            <a:spAutoFit/>
          </a:bodyPr>
          <a:lstStyle/>
          <a:p>
            <a:pPr algn="l"/>
            <a:r>
              <a:rPr sz="1600" b="1" i="0">
                <a:solidFill>
                  <a:srgbClr val="1D4F58"/>
                </a:solidFill>
                <a:latin typeface="Calibri"/>
              </a:rPr>
              <a:t>The Problem</a:t>
            </a:r>
          </a:p>
        </p:txBody>
      </p:sp>
      <p:sp>
        <p:nvSpPr>
          <p:cNvPr id="16" name="TextBox 15"/>
          <p:cNvSpPr txBox="1"/>
          <p:nvPr/>
        </p:nvSpPr>
        <p:spPr>
          <a:xfrm>
            <a:off x="347472" y="2414016"/>
            <a:ext cx="5760720" cy="987552"/>
          </a:xfrm>
          <a:prstGeom prst="rect">
            <a:avLst/>
          </a:prstGeom>
          <a:noFill/>
        </p:spPr>
        <p:txBody>
          <a:bodyPr wrap="square">
            <a:spAutoFit/>
          </a:bodyPr>
          <a:lstStyle/>
          <a:p>
            <a:pPr algn="l"/>
            <a:r>
              <a:rPr sz="1250" b="0" i="0">
                <a:solidFill>
                  <a:srgbClr val="212121"/>
                </a:solidFill>
                <a:latin typeface="Calibri"/>
              </a:rPr>
              <a:t>Emotions are central to human communication, but machines cannot natively perceive them. This project builds a computer vision system that classifies a person's facial expression into one of 7 emotions purely from pixel intensities — no audio, no text. Applications include: mental health monitoring, customer satisfaction detection, driver fatigue alerting, and adaptive educational platforms.</a:t>
            </a:r>
          </a:p>
        </p:txBody>
      </p:sp>
      <p:sp>
        <p:nvSpPr>
          <p:cNvPr id="17" name="Rounded Rectangle 16"/>
          <p:cNvSpPr/>
          <p:nvPr/>
        </p:nvSpPr>
        <p:spPr>
          <a:xfrm>
            <a:off x="6236208" y="2139696"/>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8" y="2139696"/>
            <a:ext cx="1298448" cy="7315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7648" y="2267712"/>
            <a:ext cx="1115568" cy="384048"/>
          </a:xfrm>
          <a:prstGeom prst="rect">
            <a:avLst/>
          </a:prstGeom>
          <a:noFill/>
        </p:spPr>
        <p:txBody>
          <a:bodyPr wrap="square">
            <a:spAutoFit/>
          </a:bodyPr>
          <a:lstStyle/>
          <a:p>
            <a:pPr algn="ctr"/>
            <a:r>
              <a:rPr sz="2600" b="0" i="0">
                <a:solidFill>
                  <a:srgbClr val="C62828"/>
                </a:solidFill>
                <a:latin typeface="Calibri"/>
              </a:rPr>
              <a:t>😠</a:t>
            </a:r>
          </a:p>
        </p:txBody>
      </p:sp>
      <p:sp>
        <p:nvSpPr>
          <p:cNvPr id="20" name="TextBox 19"/>
          <p:cNvSpPr txBox="1"/>
          <p:nvPr/>
        </p:nvSpPr>
        <p:spPr>
          <a:xfrm>
            <a:off x="6327648" y="2706624"/>
            <a:ext cx="1115568" cy="256032"/>
          </a:xfrm>
          <a:prstGeom prst="rect">
            <a:avLst/>
          </a:prstGeom>
          <a:noFill/>
        </p:spPr>
        <p:txBody>
          <a:bodyPr wrap="square">
            <a:spAutoFit/>
          </a:bodyPr>
          <a:lstStyle/>
          <a:p>
            <a:pPr algn="ctr"/>
            <a:r>
              <a:rPr sz="1200" b="1" i="0">
                <a:solidFill>
                  <a:srgbClr val="C62828"/>
                </a:solidFill>
                <a:latin typeface="Calibri"/>
              </a:rPr>
              <a:t>Angry</a:t>
            </a:r>
          </a:p>
        </p:txBody>
      </p:sp>
      <p:sp>
        <p:nvSpPr>
          <p:cNvPr id="21" name="Rounded Rectangle 20"/>
          <p:cNvSpPr/>
          <p:nvPr/>
        </p:nvSpPr>
        <p:spPr>
          <a:xfrm>
            <a:off x="7653528" y="2139696"/>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653528" y="2139696"/>
            <a:ext cx="1298448" cy="7315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44968" y="2267712"/>
            <a:ext cx="1115568" cy="384048"/>
          </a:xfrm>
          <a:prstGeom prst="rect">
            <a:avLst/>
          </a:prstGeom>
          <a:noFill/>
        </p:spPr>
        <p:txBody>
          <a:bodyPr wrap="square">
            <a:spAutoFit/>
          </a:bodyPr>
          <a:lstStyle/>
          <a:p>
            <a:pPr algn="ctr"/>
            <a:r>
              <a:rPr sz="2600" b="0" i="0">
                <a:solidFill>
                  <a:srgbClr val="6A1B9A"/>
                </a:solidFill>
                <a:latin typeface="Calibri"/>
              </a:rPr>
              <a:t>😒</a:t>
            </a:r>
          </a:p>
        </p:txBody>
      </p:sp>
      <p:sp>
        <p:nvSpPr>
          <p:cNvPr id="24" name="TextBox 23"/>
          <p:cNvSpPr txBox="1"/>
          <p:nvPr/>
        </p:nvSpPr>
        <p:spPr>
          <a:xfrm>
            <a:off x="7744968" y="2706624"/>
            <a:ext cx="1115568" cy="256032"/>
          </a:xfrm>
          <a:prstGeom prst="rect">
            <a:avLst/>
          </a:prstGeom>
          <a:noFill/>
        </p:spPr>
        <p:txBody>
          <a:bodyPr wrap="square">
            <a:spAutoFit/>
          </a:bodyPr>
          <a:lstStyle/>
          <a:p>
            <a:pPr algn="ctr"/>
            <a:r>
              <a:rPr sz="1200" b="1" i="0">
                <a:solidFill>
                  <a:srgbClr val="6A1B9A"/>
                </a:solidFill>
                <a:latin typeface="Calibri"/>
              </a:rPr>
              <a:t>Disgust</a:t>
            </a:r>
          </a:p>
        </p:txBody>
      </p:sp>
      <p:sp>
        <p:nvSpPr>
          <p:cNvPr id="25" name="Rounded Rectangle 24"/>
          <p:cNvSpPr/>
          <p:nvPr/>
        </p:nvSpPr>
        <p:spPr>
          <a:xfrm>
            <a:off x="9070848" y="2139696"/>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70848" y="2139696"/>
            <a:ext cx="1298448" cy="7315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62288" y="2267712"/>
            <a:ext cx="1115568" cy="384048"/>
          </a:xfrm>
          <a:prstGeom prst="rect">
            <a:avLst/>
          </a:prstGeom>
          <a:noFill/>
        </p:spPr>
        <p:txBody>
          <a:bodyPr wrap="square">
            <a:spAutoFit/>
          </a:bodyPr>
          <a:lstStyle/>
          <a:p>
            <a:pPr algn="ctr"/>
            <a:r>
              <a:rPr sz="2600" b="0" i="0">
                <a:solidFill>
                  <a:srgbClr val="E65C00"/>
                </a:solidFill>
                <a:latin typeface="Calibri"/>
              </a:rPr>
              <a:t>😰</a:t>
            </a:r>
          </a:p>
        </p:txBody>
      </p:sp>
      <p:sp>
        <p:nvSpPr>
          <p:cNvPr id="28" name="TextBox 27"/>
          <p:cNvSpPr txBox="1"/>
          <p:nvPr/>
        </p:nvSpPr>
        <p:spPr>
          <a:xfrm>
            <a:off x="9162288" y="2706624"/>
            <a:ext cx="1115568" cy="256032"/>
          </a:xfrm>
          <a:prstGeom prst="rect">
            <a:avLst/>
          </a:prstGeom>
          <a:noFill/>
        </p:spPr>
        <p:txBody>
          <a:bodyPr wrap="square">
            <a:spAutoFit/>
          </a:bodyPr>
          <a:lstStyle/>
          <a:p>
            <a:pPr algn="ctr"/>
            <a:r>
              <a:rPr sz="1200" b="1" i="0">
                <a:solidFill>
                  <a:srgbClr val="E65C00"/>
                </a:solidFill>
                <a:latin typeface="Calibri"/>
              </a:rPr>
              <a:t>Fear</a:t>
            </a:r>
          </a:p>
        </p:txBody>
      </p:sp>
      <p:sp>
        <p:nvSpPr>
          <p:cNvPr id="29" name="Rounded Rectangle 28"/>
          <p:cNvSpPr/>
          <p:nvPr/>
        </p:nvSpPr>
        <p:spPr>
          <a:xfrm>
            <a:off x="10488168" y="2139696"/>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0488168" y="2139696"/>
            <a:ext cx="1298448"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79608" y="2267712"/>
            <a:ext cx="1115568" cy="384048"/>
          </a:xfrm>
          <a:prstGeom prst="rect">
            <a:avLst/>
          </a:prstGeom>
          <a:noFill/>
        </p:spPr>
        <p:txBody>
          <a:bodyPr wrap="square">
            <a:spAutoFit/>
          </a:bodyPr>
          <a:lstStyle/>
          <a:p>
            <a:pPr algn="ctr"/>
            <a:r>
              <a:rPr sz="2600" b="0" i="0">
                <a:solidFill>
                  <a:srgbClr val="F59E0B"/>
                </a:solidFill>
                <a:latin typeface="Calibri"/>
              </a:rPr>
              <a:t>😊</a:t>
            </a:r>
          </a:p>
        </p:txBody>
      </p:sp>
      <p:sp>
        <p:nvSpPr>
          <p:cNvPr id="32" name="TextBox 31"/>
          <p:cNvSpPr txBox="1"/>
          <p:nvPr/>
        </p:nvSpPr>
        <p:spPr>
          <a:xfrm>
            <a:off x="10579608" y="2706624"/>
            <a:ext cx="1115568" cy="256032"/>
          </a:xfrm>
          <a:prstGeom prst="rect">
            <a:avLst/>
          </a:prstGeom>
          <a:noFill/>
        </p:spPr>
        <p:txBody>
          <a:bodyPr wrap="square">
            <a:spAutoFit/>
          </a:bodyPr>
          <a:lstStyle/>
          <a:p>
            <a:pPr algn="ctr"/>
            <a:r>
              <a:rPr sz="1200" b="1" i="0">
                <a:solidFill>
                  <a:srgbClr val="F59E0B"/>
                </a:solidFill>
                <a:latin typeface="Calibri"/>
              </a:rPr>
              <a:t>Happy</a:t>
            </a:r>
          </a:p>
        </p:txBody>
      </p:sp>
      <p:sp>
        <p:nvSpPr>
          <p:cNvPr id="33" name="Rounded Rectangle 32"/>
          <p:cNvSpPr/>
          <p:nvPr/>
        </p:nvSpPr>
        <p:spPr>
          <a:xfrm>
            <a:off x="6236208" y="3163824"/>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36208" y="3163824"/>
            <a:ext cx="1298448" cy="731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27648" y="3291840"/>
            <a:ext cx="1115568" cy="384048"/>
          </a:xfrm>
          <a:prstGeom prst="rect">
            <a:avLst/>
          </a:prstGeom>
          <a:noFill/>
        </p:spPr>
        <p:txBody>
          <a:bodyPr wrap="square">
            <a:spAutoFit/>
          </a:bodyPr>
          <a:lstStyle/>
          <a:p>
            <a:pPr algn="ctr"/>
            <a:r>
              <a:rPr sz="2600" b="0" i="0">
                <a:solidFill>
                  <a:srgbClr val="1565C0"/>
                </a:solidFill>
                <a:latin typeface="Calibri"/>
              </a:rPr>
              <a:t>😢</a:t>
            </a:r>
          </a:p>
        </p:txBody>
      </p:sp>
      <p:sp>
        <p:nvSpPr>
          <p:cNvPr id="36" name="TextBox 35"/>
          <p:cNvSpPr txBox="1"/>
          <p:nvPr/>
        </p:nvSpPr>
        <p:spPr>
          <a:xfrm>
            <a:off x="6327648" y="3730752"/>
            <a:ext cx="1115568" cy="256032"/>
          </a:xfrm>
          <a:prstGeom prst="rect">
            <a:avLst/>
          </a:prstGeom>
          <a:noFill/>
        </p:spPr>
        <p:txBody>
          <a:bodyPr wrap="square">
            <a:spAutoFit/>
          </a:bodyPr>
          <a:lstStyle/>
          <a:p>
            <a:pPr algn="ctr"/>
            <a:r>
              <a:rPr sz="1200" b="1" i="0">
                <a:solidFill>
                  <a:srgbClr val="1565C0"/>
                </a:solidFill>
                <a:latin typeface="Calibri"/>
              </a:rPr>
              <a:t>Sad</a:t>
            </a:r>
          </a:p>
        </p:txBody>
      </p:sp>
      <p:sp>
        <p:nvSpPr>
          <p:cNvPr id="37" name="Rounded Rectangle 36"/>
          <p:cNvSpPr/>
          <p:nvPr/>
        </p:nvSpPr>
        <p:spPr>
          <a:xfrm>
            <a:off x="7653528" y="3163824"/>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653528" y="3163824"/>
            <a:ext cx="1298448" cy="731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44968" y="3291840"/>
            <a:ext cx="1115568" cy="384048"/>
          </a:xfrm>
          <a:prstGeom prst="rect">
            <a:avLst/>
          </a:prstGeom>
          <a:noFill/>
        </p:spPr>
        <p:txBody>
          <a:bodyPr wrap="square">
            <a:spAutoFit/>
          </a:bodyPr>
          <a:lstStyle/>
          <a:p>
            <a:pPr algn="ctr"/>
            <a:r>
              <a:rPr sz="2600" b="0" i="0">
                <a:solidFill>
                  <a:srgbClr val="2E7D32"/>
                </a:solidFill>
                <a:latin typeface="Calibri"/>
              </a:rPr>
              <a:t>😲</a:t>
            </a:r>
          </a:p>
        </p:txBody>
      </p:sp>
      <p:sp>
        <p:nvSpPr>
          <p:cNvPr id="40" name="TextBox 39"/>
          <p:cNvSpPr txBox="1"/>
          <p:nvPr/>
        </p:nvSpPr>
        <p:spPr>
          <a:xfrm>
            <a:off x="7744968" y="3730752"/>
            <a:ext cx="1115568" cy="256032"/>
          </a:xfrm>
          <a:prstGeom prst="rect">
            <a:avLst/>
          </a:prstGeom>
          <a:noFill/>
        </p:spPr>
        <p:txBody>
          <a:bodyPr wrap="square">
            <a:spAutoFit/>
          </a:bodyPr>
          <a:lstStyle/>
          <a:p>
            <a:pPr algn="ctr"/>
            <a:r>
              <a:rPr sz="1200" b="1" i="0">
                <a:solidFill>
                  <a:srgbClr val="2E7D32"/>
                </a:solidFill>
                <a:latin typeface="Calibri"/>
              </a:rPr>
              <a:t>Surprise</a:t>
            </a:r>
          </a:p>
        </p:txBody>
      </p:sp>
      <p:sp>
        <p:nvSpPr>
          <p:cNvPr id="41" name="Rounded Rectangle 40"/>
          <p:cNvSpPr/>
          <p:nvPr/>
        </p:nvSpPr>
        <p:spPr>
          <a:xfrm>
            <a:off x="9070848" y="3163824"/>
            <a:ext cx="1298448" cy="86868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70848" y="3163824"/>
            <a:ext cx="1298448" cy="73152"/>
          </a:xfrm>
          <a:prstGeom prst="rect">
            <a:avLst/>
          </a:prstGeom>
          <a:solidFill>
            <a:srgbClr val="54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62288" y="3291840"/>
            <a:ext cx="1115568" cy="384048"/>
          </a:xfrm>
          <a:prstGeom prst="rect">
            <a:avLst/>
          </a:prstGeom>
          <a:noFill/>
        </p:spPr>
        <p:txBody>
          <a:bodyPr wrap="square">
            <a:spAutoFit/>
          </a:bodyPr>
          <a:lstStyle/>
          <a:p>
            <a:pPr algn="ctr"/>
            <a:r>
              <a:rPr sz="2600" b="0" i="0">
                <a:solidFill>
                  <a:srgbClr val="546E7A"/>
                </a:solidFill>
                <a:latin typeface="Calibri"/>
              </a:rPr>
              <a:t>😐</a:t>
            </a:r>
          </a:p>
        </p:txBody>
      </p:sp>
      <p:sp>
        <p:nvSpPr>
          <p:cNvPr id="44" name="TextBox 43"/>
          <p:cNvSpPr txBox="1"/>
          <p:nvPr/>
        </p:nvSpPr>
        <p:spPr>
          <a:xfrm>
            <a:off x="9162288" y="3730752"/>
            <a:ext cx="1115568" cy="256032"/>
          </a:xfrm>
          <a:prstGeom prst="rect">
            <a:avLst/>
          </a:prstGeom>
          <a:noFill/>
        </p:spPr>
        <p:txBody>
          <a:bodyPr wrap="square">
            <a:spAutoFit/>
          </a:bodyPr>
          <a:lstStyle/>
          <a:p>
            <a:pPr algn="ctr"/>
            <a:r>
              <a:rPr sz="1200" b="1" i="0">
                <a:solidFill>
                  <a:srgbClr val="546E7A"/>
                </a:solidFill>
                <a:latin typeface="Calibri"/>
              </a:rPr>
              <a:t>Neutral</a:t>
            </a:r>
          </a:p>
        </p:txBody>
      </p:sp>
      <p:sp>
        <p:nvSpPr>
          <p:cNvPr id="45" name="TextBox 44"/>
          <p:cNvSpPr txBox="1"/>
          <p:nvPr/>
        </p:nvSpPr>
        <p:spPr>
          <a:xfrm>
            <a:off x="347472" y="3435454"/>
            <a:ext cx="2194560" cy="292608"/>
          </a:xfrm>
          <a:prstGeom prst="rect">
            <a:avLst/>
          </a:prstGeom>
          <a:noFill/>
        </p:spPr>
        <p:txBody>
          <a:bodyPr wrap="square">
            <a:spAutoFit/>
          </a:bodyPr>
          <a:lstStyle/>
          <a:p>
            <a:pPr algn="l"/>
            <a:r>
              <a:rPr sz="1300" b="1" i="0">
                <a:solidFill>
                  <a:srgbClr val="1D4F58"/>
                </a:solidFill>
                <a:latin typeface="Calibri"/>
              </a:rPr>
              <a:t>▸ Mental Health:</a:t>
            </a:r>
          </a:p>
        </p:txBody>
      </p:sp>
      <p:sp>
        <p:nvSpPr>
          <p:cNvPr id="46" name="TextBox 45"/>
          <p:cNvSpPr txBox="1"/>
          <p:nvPr/>
        </p:nvSpPr>
        <p:spPr>
          <a:xfrm>
            <a:off x="2633472" y="3435454"/>
            <a:ext cx="3401568" cy="292608"/>
          </a:xfrm>
          <a:prstGeom prst="rect">
            <a:avLst/>
          </a:prstGeom>
          <a:noFill/>
        </p:spPr>
        <p:txBody>
          <a:bodyPr wrap="square">
            <a:spAutoFit/>
          </a:bodyPr>
          <a:lstStyle/>
          <a:p>
            <a:pPr algn="l"/>
            <a:r>
              <a:rPr sz="1200" b="0" i="0">
                <a:solidFill>
                  <a:srgbClr val="212121"/>
                </a:solidFill>
                <a:latin typeface="Calibri"/>
              </a:rPr>
              <a:t>Monitor emotional states in therapy sessions; detect depression or anxiety escalation</a:t>
            </a:r>
          </a:p>
        </p:txBody>
      </p:sp>
      <p:sp>
        <p:nvSpPr>
          <p:cNvPr id="47" name="TextBox 46"/>
          <p:cNvSpPr txBox="1"/>
          <p:nvPr/>
        </p:nvSpPr>
        <p:spPr>
          <a:xfrm>
            <a:off x="347472" y="4240126"/>
            <a:ext cx="2194560" cy="292608"/>
          </a:xfrm>
          <a:prstGeom prst="rect">
            <a:avLst/>
          </a:prstGeom>
          <a:noFill/>
        </p:spPr>
        <p:txBody>
          <a:bodyPr wrap="square">
            <a:spAutoFit/>
          </a:bodyPr>
          <a:lstStyle/>
          <a:p>
            <a:pPr algn="l"/>
            <a:r>
              <a:rPr sz="1300" b="1" i="0">
                <a:solidFill>
                  <a:srgbClr val="1D4F58"/>
                </a:solidFill>
                <a:latin typeface="Calibri"/>
              </a:rPr>
              <a:t>▸ Customer UX:</a:t>
            </a:r>
          </a:p>
        </p:txBody>
      </p:sp>
      <p:sp>
        <p:nvSpPr>
          <p:cNvPr id="48" name="TextBox 47"/>
          <p:cNvSpPr txBox="1"/>
          <p:nvPr/>
        </p:nvSpPr>
        <p:spPr>
          <a:xfrm>
            <a:off x="2633472" y="4240126"/>
            <a:ext cx="3401568" cy="292608"/>
          </a:xfrm>
          <a:prstGeom prst="rect">
            <a:avLst/>
          </a:prstGeom>
          <a:noFill/>
        </p:spPr>
        <p:txBody>
          <a:bodyPr wrap="square">
            <a:spAutoFit/>
          </a:bodyPr>
          <a:lstStyle/>
          <a:p>
            <a:pPr algn="l"/>
            <a:r>
              <a:rPr sz="1200" b="0" i="0">
                <a:solidFill>
                  <a:srgbClr val="212121"/>
                </a:solidFill>
                <a:latin typeface="Calibri"/>
              </a:rPr>
              <a:t>Measure in-store or online customer sentiment in real time without surveys</a:t>
            </a:r>
          </a:p>
        </p:txBody>
      </p:sp>
      <p:sp>
        <p:nvSpPr>
          <p:cNvPr id="49" name="TextBox 48"/>
          <p:cNvSpPr txBox="1"/>
          <p:nvPr/>
        </p:nvSpPr>
        <p:spPr>
          <a:xfrm>
            <a:off x="347472" y="5044798"/>
            <a:ext cx="2194560" cy="292608"/>
          </a:xfrm>
          <a:prstGeom prst="rect">
            <a:avLst/>
          </a:prstGeom>
          <a:noFill/>
        </p:spPr>
        <p:txBody>
          <a:bodyPr wrap="square">
            <a:spAutoFit/>
          </a:bodyPr>
          <a:lstStyle/>
          <a:p>
            <a:pPr algn="l"/>
            <a:r>
              <a:rPr sz="1300" b="1" i="0">
                <a:solidFill>
                  <a:srgbClr val="1D4F58"/>
                </a:solidFill>
                <a:latin typeface="Calibri"/>
              </a:rPr>
              <a:t>▸ Driver Safety:</a:t>
            </a:r>
          </a:p>
        </p:txBody>
      </p:sp>
      <p:sp>
        <p:nvSpPr>
          <p:cNvPr id="50" name="TextBox 49"/>
          <p:cNvSpPr txBox="1"/>
          <p:nvPr/>
        </p:nvSpPr>
        <p:spPr>
          <a:xfrm>
            <a:off x="2633472" y="5044798"/>
            <a:ext cx="3401568" cy="292608"/>
          </a:xfrm>
          <a:prstGeom prst="rect">
            <a:avLst/>
          </a:prstGeom>
          <a:noFill/>
        </p:spPr>
        <p:txBody>
          <a:bodyPr wrap="square">
            <a:spAutoFit/>
          </a:bodyPr>
          <a:lstStyle/>
          <a:p>
            <a:pPr algn="l"/>
            <a:r>
              <a:rPr sz="1200" b="0" i="0">
                <a:solidFill>
                  <a:srgbClr val="212121"/>
                </a:solidFill>
                <a:latin typeface="Calibri"/>
              </a:rPr>
              <a:t>Alert when driver shows fatigue or frustration patterns beyond a threshold</a:t>
            </a:r>
          </a:p>
        </p:txBody>
      </p:sp>
      <p:sp>
        <p:nvSpPr>
          <p:cNvPr id="51" name="TextBox 50"/>
          <p:cNvSpPr txBox="1"/>
          <p:nvPr/>
        </p:nvSpPr>
        <p:spPr>
          <a:xfrm>
            <a:off x="347472" y="5849470"/>
            <a:ext cx="2194560" cy="292608"/>
          </a:xfrm>
          <a:prstGeom prst="rect">
            <a:avLst/>
          </a:prstGeom>
          <a:noFill/>
        </p:spPr>
        <p:txBody>
          <a:bodyPr wrap="square">
            <a:spAutoFit/>
          </a:bodyPr>
          <a:lstStyle/>
          <a:p>
            <a:pPr algn="l"/>
            <a:r>
              <a:rPr sz="1300" b="1" i="0">
                <a:solidFill>
                  <a:srgbClr val="1D4F58"/>
                </a:solidFill>
                <a:latin typeface="Calibri"/>
              </a:rPr>
              <a:t>▸ Education:</a:t>
            </a:r>
          </a:p>
        </p:txBody>
      </p:sp>
      <p:sp>
        <p:nvSpPr>
          <p:cNvPr id="52" name="TextBox 51"/>
          <p:cNvSpPr txBox="1"/>
          <p:nvPr/>
        </p:nvSpPr>
        <p:spPr>
          <a:xfrm>
            <a:off x="2633472" y="5849470"/>
            <a:ext cx="3401568" cy="292608"/>
          </a:xfrm>
          <a:prstGeom prst="rect">
            <a:avLst/>
          </a:prstGeom>
          <a:noFill/>
        </p:spPr>
        <p:txBody>
          <a:bodyPr wrap="square">
            <a:spAutoFit/>
          </a:bodyPr>
          <a:lstStyle/>
          <a:p>
            <a:pPr algn="l"/>
            <a:r>
              <a:rPr sz="1200" b="0" i="0">
                <a:solidFill>
                  <a:srgbClr val="212121"/>
                </a:solidFill>
                <a:latin typeface="Calibri"/>
              </a:rPr>
              <a:t>Adaptive learning platforms detect confusion or boredom and adjust content difficulty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FER2013 Dataset — Structure &amp; Class Distribution</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35,887 grayscale 48×48 facial images across 7 emotion categories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Understand the FER2013 dataset — class distribution, image characteristics, and inherent challenges — before designing the CNN architecture and augmentation strategy.</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dirty="0">
                <a:solidFill>
                  <a:srgbClr val="1D4F58"/>
                </a:solidFill>
                <a:latin typeface="Calibri"/>
              </a:rPr>
              <a:t>Loaded via </a:t>
            </a:r>
            <a:r>
              <a:rPr sz="1150" b="1" i="0" dirty="0" err="1">
                <a:solidFill>
                  <a:srgbClr val="1D4F58"/>
                </a:solidFill>
                <a:latin typeface="Calibri"/>
              </a:rPr>
              <a:t>ImageDataGenerator</a:t>
            </a:r>
            <a:r>
              <a:rPr sz="1150" b="1" i="0" dirty="0">
                <a:solidFill>
                  <a:srgbClr val="1D4F58"/>
                </a:solidFill>
                <a:latin typeface="Calibri"/>
              </a:rPr>
              <a:t> from FER2013 directory (train/test split); </a:t>
            </a:r>
            <a:r>
              <a:rPr sz="1150" b="1" i="0" dirty="0" err="1">
                <a:solidFill>
                  <a:srgbClr val="1D4F58"/>
                </a:solidFill>
                <a:latin typeface="Calibri"/>
              </a:rPr>
              <a:t>class_mode</a:t>
            </a:r>
            <a:r>
              <a:rPr sz="1150" b="1" i="0" dirty="0">
                <a:solidFill>
                  <a:srgbClr val="1D4F58"/>
                </a:solidFill>
                <a:latin typeface="Calibri"/>
              </a:rPr>
              <a:t>='categorical'; </a:t>
            </a:r>
            <a:r>
              <a:rPr sz="1150" b="1" i="0" dirty="0" err="1">
                <a:solidFill>
                  <a:srgbClr val="1D4F58"/>
                </a:solidFill>
                <a:latin typeface="Calibri"/>
              </a:rPr>
              <a:t>target_size</a:t>
            </a:r>
            <a:r>
              <a:rPr sz="1150" b="1" i="0" dirty="0">
                <a:solidFill>
                  <a:srgbClr val="1D4F58"/>
                </a:solidFill>
                <a:latin typeface="Calibri"/>
              </a:rPr>
              <a:t>=(48,48); grayscale; inspected with </a:t>
            </a:r>
            <a:r>
              <a:rPr sz="1150" b="1" i="0" dirty="0" err="1">
                <a:solidFill>
                  <a:srgbClr val="1D4F58"/>
                </a:solidFill>
                <a:latin typeface="Calibri"/>
              </a:rPr>
              <a:t>plt.imshow</a:t>
            </a:r>
            <a:r>
              <a:rPr sz="1150" b="1" i="0" dirty="0">
                <a:solidFill>
                  <a:srgbClr val="1D4F58"/>
                </a:solidFill>
                <a:latin typeface="Calibri"/>
              </a:rPr>
              <a:t> and </a:t>
            </a:r>
            <a:r>
              <a:rPr sz="1150" b="1" i="0" dirty="0" err="1">
                <a:solidFill>
                  <a:srgbClr val="1D4F58"/>
                </a:solidFill>
                <a:latin typeface="Calibri"/>
              </a:rPr>
              <a:t>class_weights.compute_class_weight</a:t>
            </a:r>
            <a:endParaRPr sz="1150" b="1" i="0" dirty="0">
              <a:solidFill>
                <a:srgbClr val="1D4F58"/>
              </a:solidFill>
              <a:latin typeface="Calibri"/>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Heavy class imbalance — Happy dominates, Disgust is rare</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FER2013 has severe class imbalance: Happy has ~8,000 images; Disgust has only ~500 images — a 16× difference. This means a model that ignores Disgust entirely would still appear accurate overall — a misleading metric. class_weight is used to address this.</a:t>
            </a:r>
          </a:p>
        </p:txBody>
      </p:sp>
      <p:sp>
        <p:nvSpPr>
          <p:cNvPr id="22" name="Rounded Rectangle 21"/>
          <p:cNvSpPr/>
          <p:nvPr/>
        </p:nvSpPr>
        <p:spPr>
          <a:xfrm>
            <a:off x="347472" y="3483325"/>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510757"/>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483325"/>
            <a:ext cx="5349240" cy="256032"/>
          </a:xfrm>
          <a:prstGeom prst="rect">
            <a:avLst/>
          </a:prstGeom>
          <a:noFill/>
        </p:spPr>
        <p:txBody>
          <a:bodyPr wrap="square">
            <a:spAutoFit/>
          </a:bodyPr>
          <a:lstStyle/>
          <a:p>
            <a:pPr algn="l"/>
            <a:r>
              <a:rPr sz="1300" b="1" i="0">
                <a:solidFill>
                  <a:srgbClr val="1565C0"/>
                </a:solidFill>
                <a:latin typeface="Calibri"/>
              </a:rPr>
              <a:t>All images: 48×48 pixels, grayscale (1 channel)</a:t>
            </a:r>
          </a:p>
        </p:txBody>
      </p:sp>
      <p:sp>
        <p:nvSpPr>
          <p:cNvPr id="25" name="TextBox 24"/>
          <p:cNvSpPr txBox="1"/>
          <p:nvPr/>
        </p:nvSpPr>
        <p:spPr>
          <a:xfrm>
            <a:off x="731520" y="3757645"/>
            <a:ext cx="5349240" cy="420624"/>
          </a:xfrm>
          <a:prstGeom prst="rect">
            <a:avLst/>
          </a:prstGeom>
          <a:noFill/>
        </p:spPr>
        <p:txBody>
          <a:bodyPr wrap="square">
            <a:spAutoFit/>
          </a:bodyPr>
          <a:lstStyle/>
          <a:p>
            <a:pPr algn="l"/>
            <a:r>
              <a:rPr sz="1150" b="0" i="0">
                <a:solidFill>
                  <a:srgbClr val="212121"/>
                </a:solidFill>
                <a:latin typeface="Calibri"/>
              </a:rPr>
              <a:t>Every image in FER2013 is pre-cropped to 48×48 pixels and already in grayscale. No resizing or colour conversion is needed — but normalisation (pixel/255) is essential to bring values into [0,1] range for gradient stability.</a:t>
            </a:r>
          </a:p>
        </p:txBody>
      </p:sp>
      <p:sp>
        <p:nvSpPr>
          <p:cNvPr id="26" name="Rounded Rectangle 25"/>
          <p:cNvSpPr/>
          <p:nvPr/>
        </p:nvSpPr>
        <p:spPr>
          <a:xfrm>
            <a:off x="347472" y="4363300"/>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390732"/>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363300"/>
            <a:ext cx="5349240" cy="256032"/>
          </a:xfrm>
          <a:prstGeom prst="rect">
            <a:avLst/>
          </a:prstGeom>
          <a:noFill/>
        </p:spPr>
        <p:txBody>
          <a:bodyPr wrap="square">
            <a:spAutoFit/>
          </a:bodyPr>
          <a:lstStyle/>
          <a:p>
            <a:pPr algn="l"/>
            <a:r>
              <a:rPr sz="1300" b="1" i="0">
                <a:solidFill>
                  <a:srgbClr val="F59E0B"/>
                </a:solidFill>
                <a:latin typeface="Calibri"/>
              </a:rPr>
              <a:t>Train / Test split: 80/20 (28,709 train, 7,178 test)</a:t>
            </a:r>
          </a:p>
        </p:txBody>
      </p:sp>
      <p:sp>
        <p:nvSpPr>
          <p:cNvPr id="29" name="TextBox 28"/>
          <p:cNvSpPr txBox="1"/>
          <p:nvPr/>
        </p:nvSpPr>
        <p:spPr>
          <a:xfrm>
            <a:off x="731520" y="4637620"/>
            <a:ext cx="5349240" cy="420624"/>
          </a:xfrm>
          <a:prstGeom prst="rect">
            <a:avLst/>
          </a:prstGeom>
          <a:noFill/>
        </p:spPr>
        <p:txBody>
          <a:bodyPr wrap="square">
            <a:spAutoFit/>
          </a:bodyPr>
          <a:lstStyle/>
          <a:p>
            <a:pPr algn="l"/>
            <a:r>
              <a:rPr sz="1150" b="0" i="0">
                <a:solidFill>
                  <a:srgbClr val="212121"/>
                </a:solidFill>
                <a:latin typeface="Calibri"/>
              </a:rPr>
              <a:t>FER2013 provides a pre-defined train/test split. Training set used for fitting; test set reserved exclusively for final performance evaluation. Validation split (20% of train) is used during training for callback monitoring.</a:t>
            </a:r>
          </a:p>
        </p:txBody>
      </p:sp>
      <p:sp>
        <p:nvSpPr>
          <p:cNvPr id="30" name="Rounded Rectangle 29"/>
          <p:cNvSpPr/>
          <p:nvPr/>
        </p:nvSpPr>
        <p:spPr>
          <a:xfrm>
            <a:off x="347472" y="5243275"/>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5270707"/>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5243275"/>
            <a:ext cx="5349240" cy="256032"/>
          </a:xfrm>
          <a:prstGeom prst="rect">
            <a:avLst/>
          </a:prstGeom>
          <a:noFill/>
        </p:spPr>
        <p:txBody>
          <a:bodyPr wrap="square">
            <a:spAutoFit/>
          </a:bodyPr>
          <a:lstStyle/>
          <a:p>
            <a:pPr algn="l"/>
            <a:r>
              <a:rPr sz="1300" b="1" i="0">
                <a:solidFill>
                  <a:srgbClr val="2E7D32"/>
                </a:solidFill>
                <a:latin typeface="Calibri"/>
              </a:rPr>
              <a:t>Quality challenge: subtle inter-class differences</a:t>
            </a:r>
          </a:p>
        </p:txBody>
      </p:sp>
      <p:sp>
        <p:nvSpPr>
          <p:cNvPr id="33" name="TextBox 32"/>
          <p:cNvSpPr txBox="1"/>
          <p:nvPr/>
        </p:nvSpPr>
        <p:spPr>
          <a:xfrm>
            <a:off x="731520" y="5517595"/>
            <a:ext cx="5349240" cy="420624"/>
          </a:xfrm>
          <a:prstGeom prst="rect">
            <a:avLst/>
          </a:prstGeom>
          <a:noFill/>
        </p:spPr>
        <p:txBody>
          <a:bodyPr wrap="square">
            <a:spAutoFit/>
          </a:bodyPr>
          <a:lstStyle/>
          <a:p>
            <a:pPr algn="l"/>
            <a:r>
              <a:rPr sz="1150" b="0" i="0">
                <a:solidFill>
                  <a:srgbClr val="212121"/>
                </a:solidFill>
                <a:latin typeface="Calibri"/>
              </a:rPr>
              <a:t>Fear and Surprise look visually similar (raised brows, wide eyes). Disgust and Angry also share muscle group activations. These inter-class ambiguities are a fundamental challenge — even humans misclassify at ~65% accuracy on FER2013.</a:t>
            </a:r>
          </a:p>
        </p:txBody>
      </p:sp>
      <p:sp>
        <p:nvSpPr>
          <p:cNvPr id="34" name="Rounded Rectangle 33"/>
          <p:cNvSpPr/>
          <p:nvPr/>
        </p:nvSpPr>
        <p:spPr>
          <a:xfrm>
            <a:off x="6236208" y="2395728"/>
            <a:ext cx="5596128" cy="331012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36208" y="2395728"/>
            <a:ext cx="5596128" cy="292608"/>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27648" y="2432304"/>
            <a:ext cx="5413248" cy="237744"/>
          </a:xfrm>
          <a:prstGeom prst="rect">
            <a:avLst/>
          </a:prstGeom>
          <a:noFill/>
        </p:spPr>
        <p:txBody>
          <a:bodyPr wrap="square">
            <a:spAutoFit/>
          </a:bodyPr>
          <a:lstStyle/>
          <a:p>
            <a:pPr algn="l"/>
            <a:r>
              <a:rPr sz="1100" b="1" i="0">
                <a:solidFill>
                  <a:srgbClr val="FFFFFF"/>
                </a:solidFill>
                <a:latin typeface="Calibri"/>
              </a:rPr>
              <a:t>FER2013 Class Distribution</a:t>
            </a:r>
          </a:p>
        </p:txBody>
      </p:sp>
      <p:sp>
        <p:nvSpPr>
          <p:cNvPr id="37" name="TextBox 36"/>
          <p:cNvSpPr txBox="1"/>
          <p:nvPr/>
        </p:nvSpPr>
        <p:spPr>
          <a:xfrm>
            <a:off x="6345936" y="2761488"/>
            <a:ext cx="5413248" cy="329184"/>
          </a:xfrm>
          <a:prstGeom prst="rect">
            <a:avLst/>
          </a:prstGeom>
          <a:noFill/>
        </p:spPr>
        <p:txBody>
          <a:bodyPr wrap="square">
            <a:spAutoFit/>
          </a:bodyPr>
          <a:lstStyle/>
          <a:p>
            <a:pPr algn="l"/>
            <a:r>
              <a:rPr sz="1150" b="0" i="0">
                <a:solidFill>
                  <a:srgbClr val="212121"/>
                </a:solidFill>
                <a:latin typeface="Calibri"/>
              </a:rPr>
              <a:t>Angry:  ~4,953 images</a:t>
            </a:r>
          </a:p>
        </p:txBody>
      </p:sp>
      <p:sp>
        <p:nvSpPr>
          <p:cNvPr id="38" name="TextBox 37"/>
          <p:cNvSpPr txBox="1"/>
          <p:nvPr/>
        </p:nvSpPr>
        <p:spPr>
          <a:xfrm>
            <a:off x="6345936" y="3108960"/>
            <a:ext cx="5413248" cy="329184"/>
          </a:xfrm>
          <a:prstGeom prst="rect">
            <a:avLst/>
          </a:prstGeom>
          <a:noFill/>
        </p:spPr>
        <p:txBody>
          <a:bodyPr wrap="square">
            <a:spAutoFit/>
          </a:bodyPr>
          <a:lstStyle/>
          <a:p>
            <a:pPr algn="l"/>
            <a:r>
              <a:rPr sz="1150" b="0" i="0">
                <a:solidFill>
                  <a:srgbClr val="212121"/>
                </a:solidFill>
                <a:latin typeface="Calibri"/>
              </a:rPr>
              <a:t>Disgust:  ~547 images (least frequent)</a:t>
            </a:r>
          </a:p>
        </p:txBody>
      </p:sp>
      <p:sp>
        <p:nvSpPr>
          <p:cNvPr id="39" name="TextBox 38"/>
          <p:cNvSpPr txBox="1"/>
          <p:nvPr/>
        </p:nvSpPr>
        <p:spPr>
          <a:xfrm>
            <a:off x="6345936" y="3456432"/>
            <a:ext cx="5413248" cy="329184"/>
          </a:xfrm>
          <a:prstGeom prst="rect">
            <a:avLst/>
          </a:prstGeom>
          <a:noFill/>
        </p:spPr>
        <p:txBody>
          <a:bodyPr wrap="square">
            <a:spAutoFit/>
          </a:bodyPr>
          <a:lstStyle/>
          <a:p>
            <a:pPr algn="l"/>
            <a:r>
              <a:rPr sz="1150" b="0" i="0">
                <a:solidFill>
                  <a:srgbClr val="212121"/>
                </a:solidFill>
                <a:latin typeface="Calibri"/>
              </a:rPr>
              <a:t>Fear:  ~5,121 images</a:t>
            </a:r>
          </a:p>
        </p:txBody>
      </p:sp>
      <p:sp>
        <p:nvSpPr>
          <p:cNvPr id="40" name="TextBox 39"/>
          <p:cNvSpPr txBox="1"/>
          <p:nvPr/>
        </p:nvSpPr>
        <p:spPr>
          <a:xfrm>
            <a:off x="6345936" y="3803904"/>
            <a:ext cx="5413248" cy="329184"/>
          </a:xfrm>
          <a:prstGeom prst="rect">
            <a:avLst/>
          </a:prstGeom>
          <a:noFill/>
        </p:spPr>
        <p:txBody>
          <a:bodyPr wrap="square">
            <a:spAutoFit/>
          </a:bodyPr>
          <a:lstStyle/>
          <a:p>
            <a:pPr algn="l"/>
            <a:r>
              <a:rPr sz="1150" b="0" i="0">
                <a:solidFill>
                  <a:srgbClr val="212121"/>
                </a:solidFill>
                <a:latin typeface="Calibri"/>
              </a:rPr>
              <a:t>Happy:  ~8,989 images (most frequent)</a:t>
            </a:r>
          </a:p>
        </p:txBody>
      </p:sp>
      <p:sp>
        <p:nvSpPr>
          <p:cNvPr id="41" name="TextBox 40"/>
          <p:cNvSpPr txBox="1"/>
          <p:nvPr/>
        </p:nvSpPr>
        <p:spPr>
          <a:xfrm>
            <a:off x="6345936" y="4151376"/>
            <a:ext cx="5413248" cy="329184"/>
          </a:xfrm>
          <a:prstGeom prst="rect">
            <a:avLst/>
          </a:prstGeom>
          <a:noFill/>
        </p:spPr>
        <p:txBody>
          <a:bodyPr wrap="square">
            <a:spAutoFit/>
          </a:bodyPr>
          <a:lstStyle/>
          <a:p>
            <a:pPr algn="l"/>
            <a:r>
              <a:rPr sz="1150" b="0" i="0">
                <a:solidFill>
                  <a:srgbClr val="212121"/>
                </a:solidFill>
                <a:latin typeface="Calibri"/>
              </a:rPr>
              <a:t>Sad:  ~6,077 images</a:t>
            </a:r>
          </a:p>
        </p:txBody>
      </p:sp>
      <p:sp>
        <p:nvSpPr>
          <p:cNvPr id="42" name="TextBox 41"/>
          <p:cNvSpPr txBox="1"/>
          <p:nvPr/>
        </p:nvSpPr>
        <p:spPr>
          <a:xfrm>
            <a:off x="6345936" y="4498848"/>
            <a:ext cx="5413248" cy="329184"/>
          </a:xfrm>
          <a:prstGeom prst="rect">
            <a:avLst/>
          </a:prstGeom>
          <a:noFill/>
        </p:spPr>
        <p:txBody>
          <a:bodyPr wrap="square">
            <a:spAutoFit/>
          </a:bodyPr>
          <a:lstStyle/>
          <a:p>
            <a:pPr algn="l"/>
            <a:r>
              <a:rPr sz="1150" b="0" i="0">
                <a:solidFill>
                  <a:srgbClr val="212121"/>
                </a:solidFill>
                <a:latin typeface="Calibri"/>
              </a:rPr>
              <a:t>Surprise:  ~4,002 images</a:t>
            </a:r>
          </a:p>
        </p:txBody>
      </p:sp>
      <p:sp>
        <p:nvSpPr>
          <p:cNvPr id="43" name="TextBox 42"/>
          <p:cNvSpPr txBox="1"/>
          <p:nvPr/>
        </p:nvSpPr>
        <p:spPr>
          <a:xfrm>
            <a:off x="6345936" y="4846320"/>
            <a:ext cx="5413248" cy="329184"/>
          </a:xfrm>
          <a:prstGeom prst="rect">
            <a:avLst/>
          </a:prstGeom>
          <a:noFill/>
        </p:spPr>
        <p:txBody>
          <a:bodyPr wrap="square">
            <a:spAutoFit/>
          </a:bodyPr>
          <a:lstStyle/>
          <a:p>
            <a:pPr algn="l"/>
            <a:r>
              <a:rPr sz="1150" b="0" i="0">
                <a:solidFill>
                  <a:srgbClr val="212121"/>
                </a:solidFill>
                <a:latin typeface="Calibri"/>
              </a:rPr>
              <a:t>Neutral:  ~6,198 images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CNN Architecture — Layer-by-Layer Design</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Design a CNN that extracts emotion-discriminating features from 48×48 grayscale faces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Build a deep CNN with convolutional feature extraction, batch normalisation for training stability, max pooling for spatial invariance, and Global Average Pooling to reduce overfitting vs fully connected layers.</a:t>
            </a:r>
          </a:p>
        </p:txBody>
      </p:sp>
      <p:sp>
        <p:nvSpPr>
          <p:cNvPr id="12" name="Rounded Rectangle 11"/>
          <p:cNvSpPr/>
          <p:nvPr/>
        </p:nvSpPr>
        <p:spPr>
          <a:xfrm>
            <a:off x="347472" y="1717458"/>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754034"/>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Keras Sequential API: Input(48,48,1) → Conv2D(64,5×5) → BN → MaxPool → Dropout(0.25) → Conv2D(128,3×3) → BN → Conv2D(512,3×3) → BN → MaxPool → Dropout(0.25) → GAP → Dense(256) → Dropout(0.5) → Dense(7, Softmax)</a:t>
            </a:r>
          </a:p>
        </p:txBody>
      </p:sp>
      <p:sp>
        <p:nvSpPr>
          <p:cNvPr id="16" name="Rounded Rectangle 15"/>
          <p:cNvSpPr/>
          <p:nvPr/>
        </p:nvSpPr>
        <p:spPr>
          <a:xfrm>
            <a:off x="320040" y="2331720"/>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2331720"/>
            <a:ext cx="5760720" cy="64008"/>
          </a:xfrm>
          <a:prstGeom prst="rect">
            <a:avLst/>
          </a:prstGeom>
          <a:solidFill>
            <a:srgbClr val="546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8" y="2441448"/>
            <a:ext cx="5486400" cy="237744"/>
          </a:xfrm>
          <a:prstGeom prst="rect">
            <a:avLst/>
          </a:prstGeom>
          <a:noFill/>
        </p:spPr>
        <p:txBody>
          <a:bodyPr wrap="square">
            <a:spAutoFit/>
          </a:bodyPr>
          <a:lstStyle/>
          <a:p>
            <a:pPr algn="l"/>
            <a:r>
              <a:rPr sz="1200" b="1" i="0">
                <a:solidFill>
                  <a:srgbClr val="546E7A"/>
                </a:solidFill>
                <a:latin typeface="Calibri"/>
              </a:rPr>
              <a:t>Input Layer</a:t>
            </a:r>
          </a:p>
        </p:txBody>
      </p:sp>
      <p:sp>
        <p:nvSpPr>
          <p:cNvPr id="19" name="TextBox 18"/>
          <p:cNvSpPr txBox="1"/>
          <p:nvPr/>
        </p:nvSpPr>
        <p:spPr>
          <a:xfrm>
            <a:off x="429768" y="2715768"/>
            <a:ext cx="5486400" cy="475488"/>
          </a:xfrm>
          <a:prstGeom prst="rect">
            <a:avLst/>
          </a:prstGeom>
          <a:noFill/>
        </p:spPr>
        <p:txBody>
          <a:bodyPr wrap="square">
            <a:spAutoFit/>
          </a:bodyPr>
          <a:lstStyle/>
          <a:p>
            <a:pPr algn="l"/>
            <a:r>
              <a:rPr sz="1100" b="0" i="0">
                <a:solidFill>
                  <a:srgbClr val="212121"/>
                </a:solidFill>
                <a:latin typeface="Calibri"/>
              </a:rPr>
              <a:t>Input: (48, 48, 1) — 48×48 grayscale pixels normalised to [0,1] range by dividing by 255.</a:t>
            </a:r>
          </a:p>
        </p:txBody>
      </p:sp>
      <p:sp>
        <p:nvSpPr>
          <p:cNvPr id="20" name="Rounded Rectangle 19"/>
          <p:cNvSpPr/>
          <p:nvPr/>
        </p:nvSpPr>
        <p:spPr>
          <a:xfrm>
            <a:off x="6309360" y="2331720"/>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9360" y="2331720"/>
            <a:ext cx="5760720" cy="64008"/>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2441448"/>
            <a:ext cx="5486400" cy="237744"/>
          </a:xfrm>
          <a:prstGeom prst="rect">
            <a:avLst/>
          </a:prstGeom>
          <a:noFill/>
        </p:spPr>
        <p:txBody>
          <a:bodyPr wrap="square">
            <a:spAutoFit/>
          </a:bodyPr>
          <a:lstStyle/>
          <a:p>
            <a:pPr algn="l"/>
            <a:r>
              <a:rPr sz="1200" b="1" i="0">
                <a:solidFill>
                  <a:srgbClr val="1D4F58"/>
                </a:solidFill>
                <a:latin typeface="Calibri"/>
              </a:rPr>
              <a:t>Conv2D(64, 5×5) + BatchNorm</a:t>
            </a:r>
          </a:p>
        </p:txBody>
      </p:sp>
      <p:sp>
        <p:nvSpPr>
          <p:cNvPr id="23" name="TextBox 22"/>
          <p:cNvSpPr txBox="1"/>
          <p:nvPr/>
        </p:nvSpPr>
        <p:spPr>
          <a:xfrm>
            <a:off x="6419088" y="2715768"/>
            <a:ext cx="5486400" cy="475488"/>
          </a:xfrm>
          <a:prstGeom prst="rect">
            <a:avLst/>
          </a:prstGeom>
          <a:noFill/>
        </p:spPr>
        <p:txBody>
          <a:bodyPr wrap="square">
            <a:spAutoFit/>
          </a:bodyPr>
          <a:lstStyle/>
          <a:p>
            <a:pPr algn="l"/>
            <a:r>
              <a:rPr sz="1100" b="0" i="0">
                <a:solidFill>
                  <a:srgbClr val="212121"/>
                </a:solidFill>
                <a:latin typeface="Calibri"/>
              </a:rPr>
              <a:t>64 filters with 5×5 kernels: extract broad low-level features (edges, intensity patterns). BatchNorm: normalises activations per batch, accelerates training, reduces sensitivity to initialisation.</a:t>
            </a:r>
          </a:p>
        </p:txBody>
      </p:sp>
      <p:sp>
        <p:nvSpPr>
          <p:cNvPr id="24" name="Rounded Rectangle 23"/>
          <p:cNvSpPr/>
          <p:nvPr/>
        </p:nvSpPr>
        <p:spPr>
          <a:xfrm>
            <a:off x="320040" y="3355848"/>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3355848"/>
            <a:ext cx="5760720" cy="6400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9768" y="3465576"/>
            <a:ext cx="5486400" cy="237744"/>
          </a:xfrm>
          <a:prstGeom prst="rect">
            <a:avLst/>
          </a:prstGeom>
          <a:noFill/>
        </p:spPr>
        <p:txBody>
          <a:bodyPr wrap="square">
            <a:spAutoFit/>
          </a:bodyPr>
          <a:lstStyle/>
          <a:p>
            <a:pPr algn="l"/>
            <a:r>
              <a:rPr sz="1200" b="1" i="0">
                <a:solidFill>
                  <a:srgbClr val="1565C0"/>
                </a:solidFill>
                <a:latin typeface="Calibri"/>
              </a:rPr>
              <a:t>MaxPooling2D + Dropout(0.25)</a:t>
            </a:r>
          </a:p>
        </p:txBody>
      </p:sp>
      <p:sp>
        <p:nvSpPr>
          <p:cNvPr id="27" name="TextBox 26"/>
          <p:cNvSpPr txBox="1"/>
          <p:nvPr/>
        </p:nvSpPr>
        <p:spPr>
          <a:xfrm>
            <a:off x="429768" y="3739896"/>
            <a:ext cx="5486400" cy="475488"/>
          </a:xfrm>
          <a:prstGeom prst="rect">
            <a:avLst/>
          </a:prstGeom>
          <a:noFill/>
        </p:spPr>
        <p:txBody>
          <a:bodyPr wrap="square">
            <a:spAutoFit/>
          </a:bodyPr>
          <a:lstStyle/>
          <a:p>
            <a:pPr algn="l"/>
            <a:r>
              <a:rPr sz="1100" b="0" i="0">
                <a:solidFill>
                  <a:srgbClr val="212121"/>
                </a:solidFill>
                <a:latin typeface="Calibri"/>
              </a:rPr>
              <a:t>MaxPool(2×2): reduces spatial dimensions by 50%, provides translation invariance. Dropout: randomly disables 25% of neurons — prevents the model memorising spatial positions.</a:t>
            </a:r>
          </a:p>
        </p:txBody>
      </p:sp>
      <p:sp>
        <p:nvSpPr>
          <p:cNvPr id="28" name="Rounded Rectangle 27"/>
          <p:cNvSpPr/>
          <p:nvPr/>
        </p:nvSpPr>
        <p:spPr>
          <a:xfrm>
            <a:off x="6309360" y="3355848"/>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309360" y="3355848"/>
            <a:ext cx="5760720" cy="64008"/>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19088" y="3465576"/>
            <a:ext cx="5486400" cy="237744"/>
          </a:xfrm>
          <a:prstGeom prst="rect">
            <a:avLst/>
          </a:prstGeom>
          <a:noFill/>
        </p:spPr>
        <p:txBody>
          <a:bodyPr wrap="square">
            <a:spAutoFit/>
          </a:bodyPr>
          <a:lstStyle/>
          <a:p>
            <a:pPr algn="l"/>
            <a:r>
              <a:rPr sz="1200" b="1" i="0">
                <a:solidFill>
                  <a:srgbClr val="1D4F58"/>
                </a:solidFill>
                <a:latin typeface="Calibri"/>
              </a:rPr>
              <a:t>Conv2D(128, 3×3) + BatchNorm</a:t>
            </a:r>
          </a:p>
        </p:txBody>
      </p:sp>
      <p:sp>
        <p:nvSpPr>
          <p:cNvPr id="31" name="TextBox 30"/>
          <p:cNvSpPr txBox="1"/>
          <p:nvPr/>
        </p:nvSpPr>
        <p:spPr>
          <a:xfrm>
            <a:off x="6419088" y="3739896"/>
            <a:ext cx="5486400" cy="475488"/>
          </a:xfrm>
          <a:prstGeom prst="rect">
            <a:avLst/>
          </a:prstGeom>
          <a:noFill/>
        </p:spPr>
        <p:txBody>
          <a:bodyPr wrap="square">
            <a:spAutoFit/>
          </a:bodyPr>
          <a:lstStyle/>
          <a:p>
            <a:pPr algn="l"/>
            <a:r>
              <a:rPr sz="1100" b="0" i="0">
                <a:solidFill>
                  <a:srgbClr val="212121"/>
                </a:solidFill>
                <a:latin typeface="Calibri"/>
              </a:rPr>
              <a:t>128 filters with 3×3 kernels: capture more complex patterns (eye positions, mouth curves). Smaller kernel (3×3) at deeper layer is computationally efficient and effective.</a:t>
            </a:r>
          </a:p>
        </p:txBody>
      </p:sp>
      <p:sp>
        <p:nvSpPr>
          <p:cNvPr id="32" name="Rounded Rectangle 31"/>
          <p:cNvSpPr/>
          <p:nvPr/>
        </p:nvSpPr>
        <p:spPr>
          <a:xfrm>
            <a:off x="320040" y="4379976"/>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20040" y="4379976"/>
            <a:ext cx="5760720" cy="64008"/>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9768" y="4489704"/>
            <a:ext cx="5486400" cy="237744"/>
          </a:xfrm>
          <a:prstGeom prst="rect">
            <a:avLst/>
          </a:prstGeom>
          <a:noFill/>
        </p:spPr>
        <p:txBody>
          <a:bodyPr wrap="square">
            <a:spAutoFit/>
          </a:bodyPr>
          <a:lstStyle/>
          <a:p>
            <a:pPr algn="l"/>
            <a:r>
              <a:rPr sz="1200" b="1" i="0">
                <a:solidFill>
                  <a:srgbClr val="6A1B9A"/>
                </a:solidFill>
                <a:latin typeface="Calibri"/>
              </a:rPr>
              <a:t>Conv2D(512, 3×3) + BatchNorm</a:t>
            </a:r>
          </a:p>
        </p:txBody>
      </p:sp>
      <p:sp>
        <p:nvSpPr>
          <p:cNvPr id="35" name="TextBox 34"/>
          <p:cNvSpPr txBox="1"/>
          <p:nvPr/>
        </p:nvSpPr>
        <p:spPr>
          <a:xfrm>
            <a:off x="429768" y="4764024"/>
            <a:ext cx="5486400" cy="475488"/>
          </a:xfrm>
          <a:prstGeom prst="rect">
            <a:avLst/>
          </a:prstGeom>
          <a:noFill/>
        </p:spPr>
        <p:txBody>
          <a:bodyPr wrap="square">
            <a:spAutoFit/>
          </a:bodyPr>
          <a:lstStyle/>
          <a:p>
            <a:pPr algn="l"/>
            <a:r>
              <a:rPr sz="1100" b="0" i="0">
                <a:solidFill>
                  <a:srgbClr val="212121"/>
                </a:solidFill>
                <a:latin typeface="Calibri"/>
              </a:rPr>
              <a:t>512 filters: capture high-level emotion-specific patterns (furrowed brows, smile curvature, raised cheeks). Three stacked Conv layers before pooling allows deep feature hierarchy.</a:t>
            </a:r>
          </a:p>
        </p:txBody>
      </p:sp>
      <p:sp>
        <p:nvSpPr>
          <p:cNvPr id="36" name="Rounded Rectangle 35"/>
          <p:cNvSpPr/>
          <p:nvPr/>
        </p:nvSpPr>
        <p:spPr>
          <a:xfrm>
            <a:off x="6309360" y="4379976"/>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309360" y="4379976"/>
            <a:ext cx="5760720" cy="6400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19088" y="4489704"/>
            <a:ext cx="5486400" cy="237744"/>
          </a:xfrm>
          <a:prstGeom prst="rect">
            <a:avLst/>
          </a:prstGeom>
          <a:noFill/>
        </p:spPr>
        <p:txBody>
          <a:bodyPr wrap="square">
            <a:spAutoFit/>
          </a:bodyPr>
          <a:lstStyle/>
          <a:p>
            <a:pPr algn="l"/>
            <a:r>
              <a:rPr sz="1200" b="1" i="0">
                <a:solidFill>
                  <a:srgbClr val="2E7D32"/>
                </a:solidFill>
                <a:latin typeface="Calibri"/>
              </a:rPr>
              <a:t>Global Average Pooling</a:t>
            </a:r>
          </a:p>
        </p:txBody>
      </p:sp>
      <p:sp>
        <p:nvSpPr>
          <p:cNvPr id="39" name="TextBox 38"/>
          <p:cNvSpPr txBox="1"/>
          <p:nvPr/>
        </p:nvSpPr>
        <p:spPr>
          <a:xfrm>
            <a:off x="6419088" y="4764024"/>
            <a:ext cx="5486400" cy="475488"/>
          </a:xfrm>
          <a:prstGeom prst="rect">
            <a:avLst/>
          </a:prstGeom>
          <a:noFill/>
        </p:spPr>
        <p:txBody>
          <a:bodyPr wrap="square">
            <a:spAutoFit/>
          </a:bodyPr>
          <a:lstStyle/>
          <a:p>
            <a:pPr algn="l"/>
            <a:r>
              <a:rPr sz="1100" b="0" i="0">
                <a:solidFill>
                  <a:srgbClr val="212121"/>
                </a:solidFill>
                <a:latin typeface="Calibri"/>
              </a:rPr>
              <a:t>Replaces Flatten+Dense: averages each feature map to a single value. Drastically reduces parameters (fewer overfitting risks) while preserving semantic meaning of each feature map.</a:t>
            </a:r>
          </a:p>
        </p:txBody>
      </p:sp>
      <p:sp>
        <p:nvSpPr>
          <p:cNvPr id="40" name="Rounded Rectangle 39"/>
          <p:cNvSpPr/>
          <p:nvPr/>
        </p:nvSpPr>
        <p:spPr>
          <a:xfrm>
            <a:off x="320040" y="5404104"/>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20040" y="5404104"/>
            <a:ext cx="5760720" cy="64008"/>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9768" y="5513832"/>
            <a:ext cx="5486400" cy="237744"/>
          </a:xfrm>
          <a:prstGeom prst="rect">
            <a:avLst/>
          </a:prstGeom>
          <a:noFill/>
        </p:spPr>
        <p:txBody>
          <a:bodyPr wrap="square">
            <a:spAutoFit/>
          </a:bodyPr>
          <a:lstStyle/>
          <a:p>
            <a:pPr algn="l"/>
            <a:r>
              <a:rPr sz="1200" b="1" i="0">
                <a:solidFill>
                  <a:srgbClr val="E65C00"/>
                </a:solidFill>
                <a:latin typeface="Calibri"/>
              </a:rPr>
              <a:t>Dense(256) + Dropout(0.5)</a:t>
            </a:r>
          </a:p>
        </p:txBody>
      </p:sp>
      <p:sp>
        <p:nvSpPr>
          <p:cNvPr id="43" name="TextBox 42"/>
          <p:cNvSpPr txBox="1"/>
          <p:nvPr/>
        </p:nvSpPr>
        <p:spPr>
          <a:xfrm>
            <a:off x="429768" y="5788152"/>
            <a:ext cx="5486400" cy="475488"/>
          </a:xfrm>
          <a:prstGeom prst="rect">
            <a:avLst/>
          </a:prstGeom>
          <a:noFill/>
        </p:spPr>
        <p:txBody>
          <a:bodyPr wrap="square">
            <a:spAutoFit/>
          </a:bodyPr>
          <a:lstStyle/>
          <a:p>
            <a:pPr algn="l"/>
            <a:r>
              <a:rPr sz="1100" b="0" i="0">
                <a:solidFill>
                  <a:srgbClr val="212121"/>
                </a:solidFill>
                <a:latin typeface="Calibri"/>
              </a:rPr>
              <a:t>256-unit fully connected layer after GAP integrates all feature map signals. Dropout(0.5) here is critical — prevents memorisation of training set; large dropout compensates for the large parameter count.</a:t>
            </a:r>
          </a:p>
        </p:txBody>
      </p:sp>
      <p:sp>
        <p:nvSpPr>
          <p:cNvPr id="44" name="Rounded Rectangle 43"/>
          <p:cNvSpPr/>
          <p:nvPr/>
        </p:nvSpPr>
        <p:spPr>
          <a:xfrm>
            <a:off x="6309360" y="5404104"/>
            <a:ext cx="5760720" cy="91440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309360" y="5404104"/>
            <a:ext cx="5760720" cy="6400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19088" y="5513832"/>
            <a:ext cx="5486400" cy="237744"/>
          </a:xfrm>
          <a:prstGeom prst="rect">
            <a:avLst/>
          </a:prstGeom>
          <a:noFill/>
        </p:spPr>
        <p:txBody>
          <a:bodyPr wrap="square">
            <a:spAutoFit/>
          </a:bodyPr>
          <a:lstStyle/>
          <a:p>
            <a:pPr algn="l"/>
            <a:r>
              <a:rPr sz="1200" b="1" i="0">
                <a:solidFill>
                  <a:srgbClr val="C62828"/>
                </a:solidFill>
                <a:latin typeface="Calibri"/>
              </a:rPr>
              <a:t>Dense(7, Softmax)</a:t>
            </a:r>
          </a:p>
        </p:txBody>
      </p:sp>
      <p:sp>
        <p:nvSpPr>
          <p:cNvPr id="47" name="TextBox 46"/>
          <p:cNvSpPr txBox="1"/>
          <p:nvPr/>
        </p:nvSpPr>
        <p:spPr>
          <a:xfrm>
            <a:off x="6419088" y="5788152"/>
            <a:ext cx="5486400" cy="475488"/>
          </a:xfrm>
          <a:prstGeom prst="rect">
            <a:avLst/>
          </a:prstGeom>
          <a:noFill/>
        </p:spPr>
        <p:txBody>
          <a:bodyPr wrap="square">
            <a:spAutoFit/>
          </a:bodyPr>
          <a:lstStyle/>
          <a:p>
            <a:pPr algn="l"/>
            <a:r>
              <a:rPr sz="1100" b="0" i="0">
                <a:solidFill>
                  <a:srgbClr val="212121"/>
                </a:solidFill>
                <a:latin typeface="Calibri"/>
              </a:rPr>
              <a:t>Output layer: 7 units (one per emotion class). Softmax converts raw scores to probabilities summing to 1. Highest probability = predicted emotion class.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Data Augmentation, Preprocessing &amp; Training Strategy</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Prevent overfitting via augmentation and intelligent training callbacks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Apply data augmentation to artificially expand the training set, reducing overfitting — then use advanced callbacks to ensure the model saves its best version and adapts its learning rate dynamically.</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dirty="0" err="1">
                <a:solidFill>
                  <a:srgbClr val="1D4F58"/>
                </a:solidFill>
                <a:latin typeface="Calibri"/>
              </a:rPr>
              <a:t>ImageDataGenerator</a:t>
            </a:r>
            <a:r>
              <a:rPr sz="1150" b="1" i="0" dirty="0">
                <a:solidFill>
                  <a:srgbClr val="1D4F58"/>
                </a:solidFill>
                <a:latin typeface="Calibri"/>
              </a:rPr>
              <a:t>(</a:t>
            </a:r>
            <a:r>
              <a:rPr sz="1150" b="1" i="0" dirty="0" err="1">
                <a:solidFill>
                  <a:srgbClr val="1D4F58"/>
                </a:solidFill>
                <a:latin typeface="Calibri"/>
              </a:rPr>
              <a:t>rotation_range</a:t>
            </a:r>
            <a:r>
              <a:rPr sz="1150" b="1" i="0" dirty="0">
                <a:solidFill>
                  <a:srgbClr val="1D4F58"/>
                </a:solidFill>
                <a:latin typeface="Calibri"/>
              </a:rPr>
              <a:t>=25, </a:t>
            </a:r>
            <a:r>
              <a:rPr sz="1150" b="1" i="0" dirty="0" err="1">
                <a:solidFill>
                  <a:srgbClr val="1D4F58"/>
                </a:solidFill>
                <a:latin typeface="Calibri"/>
              </a:rPr>
              <a:t>zoom_range</a:t>
            </a:r>
            <a:r>
              <a:rPr sz="1150" b="1" i="0" dirty="0">
                <a:solidFill>
                  <a:srgbClr val="1D4F58"/>
                </a:solidFill>
                <a:latin typeface="Calibri"/>
              </a:rPr>
              <a:t>=0.2, </a:t>
            </a:r>
            <a:r>
              <a:rPr sz="1150" b="1" i="0" dirty="0" err="1">
                <a:solidFill>
                  <a:srgbClr val="1D4F58"/>
                </a:solidFill>
                <a:latin typeface="Calibri"/>
              </a:rPr>
              <a:t>horizontal_flip</a:t>
            </a:r>
            <a:r>
              <a:rPr sz="1150" b="1" i="0" dirty="0">
                <a:solidFill>
                  <a:srgbClr val="1D4F58"/>
                </a:solidFill>
                <a:latin typeface="Calibri"/>
              </a:rPr>
              <a:t>=True, </a:t>
            </a:r>
            <a:r>
              <a:rPr sz="1150" b="1" i="0" dirty="0" err="1">
                <a:solidFill>
                  <a:srgbClr val="1D4F58"/>
                </a:solidFill>
                <a:latin typeface="Calibri"/>
              </a:rPr>
              <a:t>brightness_range</a:t>
            </a:r>
            <a:r>
              <a:rPr sz="1150" b="1" i="0" dirty="0">
                <a:solidFill>
                  <a:srgbClr val="1D4F58"/>
                </a:solidFill>
                <a:latin typeface="Calibri"/>
              </a:rPr>
              <a:t>=[0.8,1.2]); </a:t>
            </a:r>
            <a:r>
              <a:rPr sz="1150" b="1" i="0" dirty="0" err="1">
                <a:solidFill>
                  <a:srgbClr val="1D4F58"/>
                </a:solidFill>
                <a:latin typeface="Calibri"/>
              </a:rPr>
              <a:t>ModelCheckpoint</a:t>
            </a:r>
            <a:r>
              <a:rPr sz="1150" b="1" i="0" dirty="0">
                <a:solidFill>
                  <a:srgbClr val="1D4F58"/>
                </a:solidFill>
                <a:latin typeface="Calibri"/>
              </a:rPr>
              <a:t> + </a:t>
            </a:r>
            <a:r>
              <a:rPr sz="1150" b="1" i="0" dirty="0" err="1">
                <a:solidFill>
                  <a:srgbClr val="1D4F58"/>
                </a:solidFill>
                <a:latin typeface="Calibri"/>
              </a:rPr>
              <a:t>EarlyStopping</a:t>
            </a:r>
            <a:r>
              <a:rPr sz="1150" b="1" i="0" dirty="0">
                <a:solidFill>
                  <a:srgbClr val="1D4F58"/>
                </a:solidFill>
                <a:latin typeface="Calibri"/>
              </a:rPr>
              <a:t> + </a:t>
            </a:r>
            <a:r>
              <a:rPr sz="1150" b="1" i="0" dirty="0" err="1">
                <a:solidFill>
                  <a:srgbClr val="1D4F58"/>
                </a:solidFill>
                <a:latin typeface="Calibri"/>
              </a:rPr>
              <a:t>ReduceLROnPlateau</a:t>
            </a:r>
            <a:r>
              <a:rPr sz="1150" b="1" i="0" dirty="0">
                <a:solidFill>
                  <a:srgbClr val="1D4F58"/>
                </a:solidFill>
                <a:latin typeface="Calibri"/>
              </a:rPr>
              <a:t>; </a:t>
            </a:r>
            <a:r>
              <a:rPr sz="1150" b="1" i="0" dirty="0" err="1">
                <a:solidFill>
                  <a:srgbClr val="1D4F58"/>
                </a:solidFill>
                <a:latin typeface="Calibri"/>
              </a:rPr>
              <a:t>class_weight</a:t>
            </a:r>
            <a:r>
              <a:rPr sz="1150" b="1" i="0" dirty="0">
                <a:solidFill>
                  <a:srgbClr val="1D4F58"/>
                </a:solidFill>
                <a:latin typeface="Calibri"/>
              </a:rPr>
              <a:t> to handle imbalance; Adam(</a:t>
            </a:r>
            <a:r>
              <a:rPr sz="1150" b="1" i="0" dirty="0" err="1">
                <a:solidFill>
                  <a:srgbClr val="1D4F58"/>
                </a:solidFill>
                <a:latin typeface="Calibri"/>
              </a:rPr>
              <a:t>lr</a:t>
            </a:r>
            <a:r>
              <a:rPr sz="1150" b="1" i="0" dirty="0">
                <a:solidFill>
                  <a:srgbClr val="1D4F58"/>
                </a:solidFill>
                <a:latin typeface="Calibri"/>
              </a:rPr>
              <a:t>=0.0001)</a:t>
            </a: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Why augmentation? To prevent the CNN from memorising training images</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Without augmentation, a CNN trained on FER2013 can achieve high training accuracy but fails on new faces because it memorises specific image positions and brightness levels. Augmentation forces the model to be invariant to these variations.</a:t>
            </a:r>
          </a:p>
        </p:txBody>
      </p:sp>
      <p:sp>
        <p:nvSpPr>
          <p:cNvPr id="22" name="Rounded Rectangle 21"/>
          <p:cNvSpPr/>
          <p:nvPr/>
        </p:nvSpPr>
        <p:spPr>
          <a:xfrm>
            <a:off x="347472" y="3321961"/>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349393"/>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321961"/>
            <a:ext cx="5349240" cy="256032"/>
          </a:xfrm>
          <a:prstGeom prst="rect">
            <a:avLst/>
          </a:prstGeom>
          <a:noFill/>
        </p:spPr>
        <p:txBody>
          <a:bodyPr wrap="square">
            <a:spAutoFit/>
          </a:bodyPr>
          <a:lstStyle/>
          <a:p>
            <a:pPr algn="l"/>
            <a:r>
              <a:rPr sz="1300" b="1" i="0">
                <a:solidFill>
                  <a:srgbClr val="1565C0"/>
                </a:solidFill>
                <a:latin typeface="Calibri"/>
              </a:rPr>
              <a:t>Augmentation: rotation (±25°), zoom (20%), horizontal flip, brightness</a:t>
            </a:r>
          </a:p>
        </p:txBody>
      </p:sp>
      <p:sp>
        <p:nvSpPr>
          <p:cNvPr id="25" name="TextBox 24"/>
          <p:cNvSpPr txBox="1"/>
          <p:nvPr/>
        </p:nvSpPr>
        <p:spPr>
          <a:xfrm>
            <a:off x="731520" y="3596281"/>
            <a:ext cx="5349240" cy="420624"/>
          </a:xfrm>
          <a:prstGeom prst="rect">
            <a:avLst/>
          </a:prstGeom>
          <a:noFill/>
        </p:spPr>
        <p:txBody>
          <a:bodyPr wrap="square">
            <a:spAutoFit/>
          </a:bodyPr>
          <a:lstStyle/>
          <a:p>
            <a:pPr algn="l"/>
            <a:r>
              <a:rPr sz="1150" b="0" i="0">
                <a:solidFill>
                  <a:srgbClr val="212121"/>
                </a:solidFill>
                <a:latin typeface="Calibri"/>
              </a:rPr>
              <a:t>These transformations simulate real-world variation: people don't always face the camera directly (rotation), may be photographed at different distances (zoom), from either side (flip), or under different lighting (brightness). Each epoch sees a differently-augmented version of the same image.</a:t>
            </a:r>
          </a:p>
        </p:txBody>
      </p:sp>
      <p:sp>
        <p:nvSpPr>
          <p:cNvPr id="26" name="Rounded Rectangle 25"/>
          <p:cNvSpPr/>
          <p:nvPr/>
        </p:nvSpPr>
        <p:spPr>
          <a:xfrm>
            <a:off x="347472" y="4336406"/>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363838"/>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336406"/>
            <a:ext cx="5349240" cy="256032"/>
          </a:xfrm>
          <a:prstGeom prst="rect">
            <a:avLst/>
          </a:prstGeom>
          <a:noFill/>
        </p:spPr>
        <p:txBody>
          <a:bodyPr wrap="square">
            <a:spAutoFit/>
          </a:bodyPr>
          <a:lstStyle/>
          <a:p>
            <a:pPr algn="l"/>
            <a:r>
              <a:rPr sz="1300" b="1" i="0">
                <a:solidFill>
                  <a:srgbClr val="F59E0B"/>
                </a:solidFill>
                <a:latin typeface="Calibri"/>
              </a:rPr>
              <a:t>ModelCheckpoint: saves only when val_accuracy improves</a:t>
            </a:r>
          </a:p>
        </p:txBody>
      </p:sp>
      <p:sp>
        <p:nvSpPr>
          <p:cNvPr id="29" name="TextBox 28"/>
          <p:cNvSpPr txBox="1"/>
          <p:nvPr/>
        </p:nvSpPr>
        <p:spPr>
          <a:xfrm>
            <a:off x="731520" y="4610726"/>
            <a:ext cx="5349240" cy="420624"/>
          </a:xfrm>
          <a:prstGeom prst="rect">
            <a:avLst/>
          </a:prstGeom>
          <a:noFill/>
        </p:spPr>
        <p:txBody>
          <a:bodyPr wrap="square">
            <a:spAutoFit/>
          </a:bodyPr>
          <a:lstStyle/>
          <a:p>
            <a:pPr algn="l"/>
            <a:r>
              <a:rPr sz="1150" b="0" i="0">
                <a:solidFill>
                  <a:srgbClr val="212121"/>
                </a:solidFill>
                <a:latin typeface="Calibri"/>
              </a:rPr>
              <a:t>The best model (highest validation accuracy ever achieved) is saved to disk. Training continues after this checkpoint — the checkpoint ensures even if the model later overfits, the saved version is the historical best.</a:t>
            </a:r>
          </a:p>
        </p:txBody>
      </p:sp>
      <p:sp>
        <p:nvSpPr>
          <p:cNvPr id="30" name="Rounded Rectangle 29"/>
          <p:cNvSpPr/>
          <p:nvPr/>
        </p:nvSpPr>
        <p:spPr>
          <a:xfrm>
            <a:off x="347472" y="5202934"/>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5230366"/>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5202934"/>
            <a:ext cx="5349240" cy="256032"/>
          </a:xfrm>
          <a:prstGeom prst="rect">
            <a:avLst/>
          </a:prstGeom>
          <a:noFill/>
        </p:spPr>
        <p:txBody>
          <a:bodyPr wrap="square">
            <a:spAutoFit/>
          </a:bodyPr>
          <a:lstStyle/>
          <a:p>
            <a:pPr algn="l"/>
            <a:r>
              <a:rPr sz="1300" b="1" i="0">
                <a:solidFill>
                  <a:srgbClr val="2E7D32"/>
                </a:solidFill>
                <a:latin typeface="Calibri"/>
              </a:rPr>
              <a:t>ReduceLROnPlateau: halves LR if val_loss stagnates for 3 epochs</a:t>
            </a:r>
          </a:p>
        </p:txBody>
      </p:sp>
      <p:sp>
        <p:nvSpPr>
          <p:cNvPr id="33" name="TextBox 32"/>
          <p:cNvSpPr txBox="1"/>
          <p:nvPr/>
        </p:nvSpPr>
        <p:spPr>
          <a:xfrm>
            <a:off x="731520" y="5477254"/>
            <a:ext cx="5349240" cy="420624"/>
          </a:xfrm>
          <a:prstGeom prst="rect">
            <a:avLst/>
          </a:prstGeom>
          <a:noFill/>
        </p:spPr>
        <p:txBody>
          <a:bodyPr wrap="square">
            <a:spAutoFit/>
          </a:bodyPr>
          <a:lstStyle/>
          <a:p>
            <a:pPr algn="l"/>
            <a:r>
              <a:rPr sz="1150" b="0" i="0">
                <a:solidFill>
                  <a:srgbClr val="212121"/>
                </a:solidFill>
                <a:latin typeface="Calibri"/>
              </a:rPr>
              <a:t>When validation loss stops improving for 3 consecutive epochs, the learning rate is halved (multiplied by factor=0.5). This allows the optimizer to take smaller steps and escape local minima, often leading to a final accuracy jump.</a:t>
            </a:r>
          </a:p>
        </p:txBody>
      </p:sp>
      <p:sp>
        <p:nvSpPr>
          <p:cNvPr id="34" name="Rounded Rectangle 33"/>
          <p:cNvSpPr/>
          <p:nvPr/>
        </p:nvSpPr>
        <p:spPr>
          <a:xfrm>
            <a:off x="6236208" y="2395728"/>
            <a:ext cx="5596128" cy="333756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36208" y="2395728"/>
            <a:ext cx="5596128" cy="292608"/>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27648" y="2432304"/>
            <a:ext cx="5413248" cy="237744"/>
          </a:xfrm>
          <a:prstGeom prst="rect">
            <a:avLst/>
          </a:prstGeom>
          <a:noFill/>
        </p:spPr>
        <p:txBody>
          <a:bodyPr wrap="square">
            <a:spAutoFit/>
          </a:bodyPr>
          <a:lstStyle/>
          <a:p>
            <a:pPr algn="l"/>
            <a:r>
              <a:rPr sz="1100" b="1" i="0">
                <a:solidFill>
                  <a:srgbClr val="FFFFFF"/>
                </a:solidFill>
                <a:latin typeface="Calibri"/>
              </a:rPr>
              <a:t>Training Configuration</a:t>
            </a:r>
          </a:p>
        </p:txBody>
      </p:sp>
      <p:sp>
        <p:nvSpPr>
          <p:cNvPr id="37" name="TextBox 36"/>
          <p:cNvSpPr txBox="1"/>
          <p:nvPr/>
        </p:nvSpPr>
        <p:spPr>
          <a:xfrm>
            <a:off x="6345936" y="2761488"/>
            <a:ext cx="5413248" cy="329184"/>
          </a:xfrm>
          <a:prstGeom prst="rect">
            <a:avLst/>
          </a:prstGeom>
          <a:noFill/>
        </p:spPr>
        <p:txBody>
          <a:bodyPr wrap="square">
            <a:spAutoFit/>
          </a:bodyPr>
          <a:lstStyle/>
          <a:p>
            <a:pPr algn="l"/>
            <a:r>
              <a:rPr sz="1150" b="0" i="0">
                <a:solidFill>
                  <a:srgbClr val="212121"/>
                </a:solidFill>
                <a:latin typeface="Calibri"/>
              </a:rPr>
              <a:t>Optimizer: Adam (lr=0.0001)</a:t>
            </a:r>
          </a:p>
        </p:txBody>
      </p:sp>
      <p:sp>
        <p:nvSpPr>
          <p:cNvPr id="38" name="TextBox 37"/>
          <p:cNvSpPr txBox="1"/>
          <p:nvPr/>
        </p:nvSpPr>
        <p:spPr>
          <a:xfrm>
            <a:off x="6345936" y="3108960"/>
            <a:ext cx="5413248" cy="329184"/>
          </a:xfrm>
          <a:prstGeom prst="rect">
            <a:avLst/>
          </a:prstGeom>
          <a:noFill/>
        </p:spPr>
        <p:txBody>
          <a:bodyPr wrap="square">
            <a:spAutoFit/>
          </a:bodyPr>
          <a:lstStyle/>
          <a:p>
            <a:pPr algn="l"/>
            <a:r>
              <a:rPr sz="1150" b="0" i="0">
                <a:solidFill>
                  <a:srgbClr val="212121"/>
                </a:solidFill>
                <a:latin typeface="Calibri"/>
              </a:rPr>
              <a:t>Loss: categorical_crossentropy</a:t>
            </a:r>
          </a:p>
        </p:txBody>
      </p:sp>
      <p:sp>
        <p:nvSpPr>
          <p:cNvPr id="39" name="TextBox 38"/>
          <p:cNvSpPr txBox="1"/>
          <p:nvPr/>
        </p:nvSpPr>
        <p:spPr>
          <a:xfrm>
            <a:off x="6345936" y="3456432"/>
            <a:ext cx="5413248" cy="329184"/>
          </a:xfrm>
          <a:prstGeom prst="rect">
            <a:avLst/>
          </a:prstGeom>
          <a:noFill/>
        </p:spPr>
        <p:txBody>
          <a:bodyPr wrap="square">
            <a:spAutoFit/>
          </a:bodyPr>
          <a:lstStyle/>
          <a:p>
            <a:pPr algn="l"/>
            <a:r>
              <a:rPr sz="1150" b="0" i="0">
                <a:solidFill>
                  <a:srgbClr val="212121"/>
                </a:solidFill>
                <a:latin typeface="Calibri"/>
              </a:rPr>
              <a:t>Batch size: 64 | Epochs: up to 100 (with EarlyStopping)</a:t>
            </a:r>
          </a:p>
        </p:txBody>
      </p:sp>
      <p:sp>
        <p:nvSpPr>
          <p:cNvPr id="40" name="TextBox 39"/>
          <p:cNvSpPr txBox="1"/>
          <p:nvPr/>
        </p:nvSpPr>
        <p:spPr>
          <a:xfrm>
            <a:off x="6345936" y="3803904"/>
            <a:ext cx="5413248" cy="329184"/>
          </a:xfrm>
          <a:prstGeom prst="rect">
            <a:avLst/>
          </a:prstGeom>
          <a:noFill/>
        </p:spPr>
        <p:txBody>
          <a:bodyPr wrap="square">
            <a:spAutoFit/>
          </a:bodyPr>
          <a:lstStyle/>
          <a:p>
            <a:pPr algn="l"/>
            <a:r>
              <a:rPr sz="1150" b="0" i="0">
                <a:solidFill>
                  <a:srgbClr val="212121"/>
                </a:solidFill>
                <a:latin typeface="Calibri"/>
              </a:rPr>
              <a:t>class_weight: computed to penalise Disgust misses more</a:t>
            </a:r>
          </a:p>
        </p:txBody>
      </p:sp>
      <p:sp>
        <p:nvSpPr>
          <p:cNvPr id="41" name="TextBox 40"/>
          <p:cNvSpPr txBox="1"/>
          <p:nvPr/>
        </p:nvSpPr>
        <p:spPr>
          <a:xfrm>
            <a:off x="6345936" y="4151376"/>
            <a:ext cx="5413248" cy="329184"/>
          </a:xfrm>
          <a:prstGeom prst="rect">
            <a:avLst/>
          </a:prstGeom>
          <a:noFill/>
        </p:spPr>
        <p:txBody>
          <a:bodyPr wrap="square">
            <a:spAutoFit/>
          </a:bodyPr>
          <a:lstStyle/>
          <a:p>
            <a:pPr algn="l"/>
            <a:r>
              <a:rPr sz="1150" b="0" i="0">
                <a:solidFill>
                  <a:srgbClr val="212121"/>
                </a:solidFill>
                <a:latin typeface="Calibri"/>
              </a:rPr>
              <a:t>EarlyStopping: patience=10 on val_loss; restores best weights</a:t>
            </a:r>
          </a:p>
        </p:txBody>
      </p:sp>
      <p:sp>
        <p:nvSpPr>
          <p:cNvPr id="42" name="TextBox 41"/>
          <p:cNvSpPr txBox="1"/>
          <p:nvPr/>
        </p:nvSpPr>
        <p:spPr>
          <a:xfrm>
            <a:off x="6345936" y="4498848"/>
            <a:ext cx="5413248" cy="329184"/>
          </a:xfrm>
          <a:prstGeom prst="rect">
            <a:avLst/>
          </a:prstGeom>
          <a:noFill/>
        </p:spPr>
        <p:txBody>
          <a:bodyPr wrap="square">
            <a:spAutoFit/>
          </a:bodyPr>
          <a:lstStyle/>
          <a:p>
            <a:pPr algn="l"/>
            <a:r>
              <a:rPr sz="1150" b="0" i="0">
                <a:solidFill>
                  <a:srgbClr val="212121"/>
                </a:solidFill>
                <a:latin typeface="Calibri"/>
              </a:rPr>
              <a:t>ReduceLROnPlateau: factor=0.5, patience=3, min_lr=1e-6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Training Results — Accuracy &amp; Loss Curves</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Visual evidence from notebook: how the model learned over epochs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Interpret the training and validation accuracy/loss curves to assess: (1) whether the model learned progressively, (2) whether overfitting occurred, and (3) when training effectively stopped improving.</a:t>
            </a:r>
          </a:p>
        </p:txBody>
      </p:sp>
      <p:sp>
        <p:nvSpPr>
          <p:cNvPr id="12" name="Rounded Rectangle 11"/>
          <p:cNvSpPr/>
          <p:nvPr/>
        </p:nvSpPr>
        <p:spPr>
          <a:xfrm>
            <a:off x="347472" y="1744352"/>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780928"/>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history.history['accuracy'] and 'val_accuracy' plotted over all epochs; training stopped by EarlyStopping callback; best epoch identified from val_accuracy peak; ReduceLROnPlateau events marked</a:t>
            </a: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82327"/>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509759"/>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Training accuracy steadily increases — model is learning</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The training accuracy curve rises progressively from low values in early epochs toward higher accuracy — confirming the CNN is extracting emotion-discriminating features rather than failing to converge.</a:t>
            </a:r>
          </a:p>
        </p:txBody>
      </p:sp>
      <p:sp>
        <p:nvSpPr>
          <p:cNvPr id="22" name="Rounded Rectangle 21"/>
          <p:cNvSpPr/>
          <p:nvPr/>
        </p:nvSpPr>
        <p:spPr>
          <a:xfrm>
            <a:off x="347472" y="3308514"/>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335946"/>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308514"/>
            <a:ext cx="5349240" cy="256032"/>
          </a:xfrm>
          <a:prstGeom prst="rect">
            <a:avLst/>
          </a:prstGeom>
          <a:noFill/>
        </p:spPr>
        <p:txBody>
          <a:bodyPr wrap="square">
            <a:spAutoFit/>
          </a:bodyPr>
          <a:lstStyle/>
          <a:p>
            <a:pPr algn="l"/>
            <a:r>
              <a:rPr sz="1300" b="1" i="0">
                <a:solidFill>
                  <a:srgbClr val="1565C0"/>
                </a:solidFill>
                <a:latin typeface="Calibri"/>
              </a:rPr>
              <a:t>Validation accuracy tracks training — minimal overfitting</a:t>
            </a:r>
          </a:p>
        </p:txBody>
      </p:sp>
      <p:sp>
        <p:nvSpPr>
          <p:cNvPr id="25" name="TextBox 24"/>
          <p:cNvSpPr txBox="1"/>
          <p:nvPr/>
        </p:nvSpPr>
        <p:spPr>
          <a:xfrm>
            <a:off x="731520" y="3582834"/>
            <a:ext cx="5349240" cy="420624"/>
          </a:xfrm>
          <a:prstGeom prst="rect">
            <a:avLst/>
          </a:prstGeom>
          <a:noFill/>
        </p:spPr>
        <p:txBody>
          <a:bodyPr wrap="square">
            <a:spAutoFit/>
          </a:bodyPr>
          <a:lstStyle/>
          <a:p>
            <a:pPr algn="l"/>
            <a:r>
              <a:rPr sz="1150" b="0" i="0">
                <a:solidFill>
                  <a:srgbClr val="212121"/>
                </a:solidFill>
                <a:latin typeface="Calibri"/>
              </a:rPr>
              <a:t>The gap between training and validation accuracy remains relatively small thanks to augmentation and Dropout(0.5). A large gap would indicate memorisation. The close tracking confirms the model generalises.</a:t>
            </a:r>
          </a:p>
        </p:txBody>
      </p:sp>
      <p:sp>
        <p:nvSpPr>
          <p:cNvPr id="26" name="Rounded Rectangle 25"/>
          <p:cNvSpPr/>
          <p:nvPr/>
        </p:nvSpPr>
        <p:spPr>
          <a:xfrm>
            <a:off x="347472" y="4148148"/>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175580"/>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148148"/>
            <a:ext cx="5349240" cy="256032"/>
          </a:xfrm>
          <a:prstGeom prst="rect">
            <a:avLst/>
          </a:prstGeom>
          <a:noFill/>
        </p:spPr>
        <p:txBody>
          <a:bodyPr wrap="square">
            <a:spAutoFit/>
          </a:bodyPr>
          <a:lstStyle/>
          <a:p>
            <a:pPr algn="l"/>
            <a:r>
              <a:rPr sz="1300" b="1" i="0">
                <a:solidFill>
                  <a:srgbClr val="F59E0B"/>
                </a:solidFill>
                <a:latin typeface="Calibri"/>
              </a:rPr>
              <a:t>Loss curves confirm convergence without divergence</a:t>
            </a:r>
          </a:p>
        </p:txBody>
      </p:sp>
      <p:sp>
        <p:nvSpPr>
          <p:cNvPr id="29" name="TextBox 28"/>
          <p:cNvSpPr txBox="1"/>
          <p:nvPr/>
        </p:nvSpPr>
        <p:spPr>
          <a:xfrm>
            <a:off x="731520" y="4422468"/>
            <a:ext cx="5349240" cy="420624"/>
          </a:xfrm>
          <a:prstGeom prst="rect">
            <a:avLst/>
          </a:prstGeom>
          <a:noFill/>
        </p:spPr>
        <p:txBody>
          <a:bodyPr wrap="square">
            <a:spAutoFit/>
          </a:bodyPr>
          <a:lstStyle/>
          <a:p>
            <a:pPr algn="l"/>
            <a:r>
              <a:rPr sz="1150" b="0" i="0">
                <a:solidFill>
                  <a:srgbClr val="212121"/>
                </a:solidFill>
                <a:latin typeface="Calibri"/>
              </a:rPr>
              <a:t>Both training and validation loss decrease monotonically (with minor fluctuations). The absence of a rising validation loss divergence confirms the EarlyStopping and ReduceLROnPlateau callbacks are working correctly.</a:t>
            </a:r>
          </a:p>
        </p:txBody>
      </p:sp>
      <p:sp>
        <p:nvSpPr>
          <p:cNvPr id="30" name="Rounded Rectangle 29"/>
          <p:cNvSpPr/>
          <p:nvPr/>
        </p:nvSpPr>
        <p:spPr>
          <a:xfrm>
            <a:off x="347472" y="5014676"/>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5042108"/>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5014676"/>
            <a:ext cx="5349240" cy="256032"/>
          </a:xfrm>
          <a:prstGeom prst="rect">
            <a:avLst/>
          </a:prstGeom>
          <a:noFill/>
        </p:spPr>
        <p:txBody>
          <a:bodyPr wrap="square">
            <a:spAutoFit/>
          </a:bodyPr>
          <a:lstStyle/>
          <a:p>
            <a:pPr algn="l"/>
            <a:r>
              <a:rPr sz="1300" b="1" i="0">
                <a:solidFill>
                  <a:srgbClr val="2E7D32"/>
                </a:solidFill>
                <a:latin typeface="Calibri"/>
              </a:rPr>
              <a:t>EarlyStopping triggers: best performance at ~35–55 epochs</a:t>
            </a:r>
          </a:p>
        </p:txBody>
      </p:sp>
      <p:sp>
        <p:nvSpPr>
          <p:cNvPr id="33" name="TextBox 32"/>
          <p:cNvSpPr txBox="1"/>
          <p:nvPr/>
        </p:nvSpPr>
        <p:spPr>
          <a:xfrm>
            <a:off x="731520" y="5288996"/>
            <a:ext cx="5349240" cy="420624"/>
          </a:xfrm>
          <a:prstGeom prst="rect">
            <a:avLst/>
          </a:prstGeom>
          <a:noFill/>
        </p:spPr>
        <p:txBody>
          <a:bodyPr wrap="square">
            <a:spAutoFit/>
          </a:bodyPr>
          <a:lstStyle/>
          <a:p>
            <a:pPr algn="l"/>
            <a:r>
              <a:rPr sz="1150" b="0" i="0">
                <a:solidFill>
                  <a:srgbClr val="212121"/>
                </a:solidFill>
                <a:latin typeface="Calibri"/>
              </a:rPr>
              <a:t>Training stopped automatically when validation loss stopped improving for 10 consecutive epochs. This prevents wasted computation on additional epochs that wouldn't improve the deployed model.</a:t>
            </a:r>
          </a:p>
        </p:txBody>
      </p:sp>
      <p:pic>
        <p:nvPicPr>
          <p:cNvPr id="34" name="Picture 33" descr="out_56_0.png"/>
          <p:cNvPicPr>
            <a:picLocks noChangeAspect="1"/>
          </p:cNvPicPr>
          <p:nvPr/>
        </p:nvPicPr>
        <p:blipFill>
          <a:blip r:embed="rId2"/>
          <a:stretch>
            <a:fillRect/>
          </a:stretch>
        </p:blipFill>
        <p:spPr>
          <a:xfrm>
            <a:off x="6236208" y="1261872"/>
            <a:ext cx="5596128" cy="5074920"/>
          </a:xfrm>
          <a:prstGeom prst="rect">
            <a:avLst/>
          </a:prstGeom>
        </p:spPr>
      </p:pic>
      <p:sp>
        <p:nvSpPr>
          <p:cNvPr id="35" name="TextBox 34"/>
          <p:cNvSpPr txBox="1"/>
          <p:nvPr/>
        </p:nvSpPr>
        <p:spPr>
          <a:xfrm>
            <a:off x="6236208" y="6355080"/>
            <a:ext cx="5596128" cy="256032"/>
          </a:xfrm>
          <a:prstGeom prst="rect">
            <a:avLst/>
          </a:prstGeom>
          <a:noFill/>
        </p:spPr>
        <p:txBody>
          <a:bodyPr wrap="square">
            <a:spAutoFit/>
          </a:bodyPr>
          <a:lstStyle/>
          <a:p>
            <a:pPr algn="ctr"/>
            <a:r>
              <a:rPr sz="950" b="0" i="1">
                <a:solidFill>
                  <a:srgbClr val="546E7A"/>
                </a:solidFill>
                <a:latin typeface="Calibri"/>
              </a:rPr>
              <a:t>Fig 1: Training &amp; validation accuracy/loss curves — from Colab notebook; accuracy rises steadily; val/train gap minimal confirming good generalisation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Model Evaluation — Per-Class Performance</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Assess how accurately the model classifies each of the 7 emotions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Evaluate the trained CNN on the FER2013 test set — compute accuracy, per-class precision/recall/F1, and identify which emotion classes are easiest and hardest to distinguish.</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model.evaluate(test_gen) for overall accuracy; model.predict(test_gen) → np.argmax for class predictions; classification_report(y_true, y_pred) and confusion_matrix(y_true, y_pred) from sklearn</a:t>
            </a: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6492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6080760" cy="256032"/>
          </a:xfrm>
          <a:prstGeom prst="rect">
            <a:avLst/>
          </a:prstGeom>
          <a:noFill/>
        </p:spPr>
        <p:txBody>
          <a:bodyPr wrap="square">
            <a:spAutoFit/>
          </a:bodyPr>
          <a:lstStyle/>
          <a:p>
            <a:pPr algn="l"/>
            <a:r>
              <a:rPr sz="1300" b="1" i="0">
                <a:solidFill>
                  <a:srgbClr val="1D4F58"/>
                </a:solidFill>
                <a:latin typeface="Calibri"/>
              </a:rPr>
              <a:t>Happy: highest accuracy (~90%+ F1)</a:t>
            </a:r>
          </a:p>
        </p:txBody>
      </p:sp>
      <p:sp>
        <p:nvSpPr>
          <p:cNvPr id="21" name="TextBox 20"/>
          <p:cNvSpPr txBox="1"/>
          <p:nvPr/>
        </p:nvSpPr>
        <p:spPr>
          <a:xfrm>
            <a:off x="731520" y="2743200"/>
            <a:ext cx="6080760" cy="420624"/>
          </a:xfrm>
          <a:prstGeom prst="rect">
            <a:avLst/>
          </a:prstGeom>
          <a:noFill/>
        </p:spPr>
        <p:txBody>
          <a:bodyPr wrap="square">
            <a:spAutoFit/>
          </a:bodyPr>
          <a:lstStyle/>
          <a:p>
            <a:pPr algn="l"/>
            <a:r>
              <a:rPr sz="1150" b="0" i="0">
                <a:solidFill>
                  <a:srgbClr val="212121"/>
                </a:solidFill>
                <a:latin typeface="Calibri"/>
              </a:rPr>
              <a:t>Happy is the most distinctly recognisable emotion — wide smile, raised cheeks, crinkling eyes. The model classifies Happy with the highest F1 score. This is consistent across all CNN-based FER2013 models in literature.</a:t>
            </a:r>
          </a:p>
        </p:txBody>
      </p:sp>
      <p:sp>
        <p:nvSpPr>
          <p:cNvPr id="22" name="Rounded Rectangle 21"/>
          <p:cNvSpPr/>
          <p:nvPr/>
        </p:nvSpPr>
        <p:spPr>
          <a:xfrm>
            <a:off x="347472" y="3308514"/>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335946"/>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308514"/>
            <a:ext cx="6080760" cy="256032"/>
          </a:xfrm>
          <a:prstGeom prst="rect">
            <a:avLst/>
          </a:prstGeom>
          <a:noFill/>
        </p:spPr>
        <p:txBody>
          <a:bodyPr wrap="square">
            <a:spAutoFit/>
          </a:bodyPr>
          <a:lstStyle/>
          <a:p>
            <a:pPr algn="l"/>
            <a:r>
              <a:rPr sz="1300" b="1" i="0">
                <a:solidFill>
                  <a:srgbClr val="1565C0"/>
                </a:solidFill>
                <a:latin typeface="Calibri"/>
              </a:rPr>
              <a:t>Disgust: lowest accuracy (fewest samples — ~547)</a:t>
            </a:r>
          </a:p>
        </p:txBody>
      </p:sp>
      <p:sp>
        <p:nvSpPr>
          <p:cNvPr id="25" name="TextBox 24"/>
          <p:cNvSpPr txBox="1"/>
          <p:nvPr/>
        </p:nvSpPr>
        <p:spPr>
          <a:xfrm>
            <a:off x="731520" y="3582834"/>
            <a:ext cx="6080760" cy="420624"/>
          </a:xfrm>
          <a:prstGeom prst="rect">
            <a:avLst/>
          </a:prstGeom>
          <a:noFill/>
        </p:spPr>
        <p:txBody>
          <a:bodyPr wrap="square">
            <a:spAutoFit/>
          </a:bodyPr>
          <a:lstStyle/>
          <a:p>
            <a:pPr algn="l"/>
            <a:r>
              <a:rPr sz="1150" b="0" i="0">
                <a:solidFill>
                  <a:srgbClr val="212121"/>
                </a:solidFill>
                <a:latin typeface="Calibri"/>
              </a:rPr>
              <a:t>Disgust has the fewest training examples (~547 vs ~8,989 Happy). Even with class_weight correction, the model has seen far fewer Disgust examples and its F1 is noticeably lower. This is the most common failure mode.</a:t>
            </a:r>
          </a:p>
        </p:txBody>
      </p:sp>
      <p:sp>
        <p:nvSpPr>
          <p:cNvPr id="26" name="Rounded Rectangle 25"/>
          <p:cNvSpPr/>
          <p:nvPr/>
        </p:nvSpPr>
        <p:spPr>
          <a:xfrm>
            <a:off x="347472" y="4175042"/>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202474"/>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175042"/>
            <a:ext cx="6080760" cy="256032"/>
          </a:xfrm>
          <a:prstGeom prst="rect">
            <a:avLst/>
          </a:prstGeom>
          <a:noFill/>
        </p:spPr>
        <p:txBody>
          <a:bodyPr wrap="square">
            <a:spAutoFit/>
          </a:bodyPr>
          <a:lstStyle/>
          <a:p>
            <a:pPr algn="l"/>
            <a:r>
              <a:rPr sz="1300" b="1" i="0">
                <a:solidFill>
                  <a:srgbClr val="F59E0B"/>
                </a:solidFill>
                <a:latin typeface="Calibri"/>
              </a:rPr>
              <a:t>Fear &amp; Surprise: most confused pair</a:t>
            </a:r>
          </a:p>
        </p:txBody>
      </p:sp>
      <p:sp>
        <p:nvSpPr>
          <p:cNvPr id="29" name="TextBox 28"/>
          <p:cNvSpPr txBox="1"/>
          <p:nvPr/>
        </p:nvSpPr>
        <p:spPr>
          <a:xfrm>
            <a:off x="731520" y="4449362"/>
            <a:ext cx="6080760" cy="420624"/>
          </a:xfrm>
          <a:prstGeom prst="rect">
            <a:avLst/>
          </a:prstGeom>
          <a:noFill/>
        </p:spPr>
        <p:txBody>
          <a:bodyPr wrap="square">
            <a:spAutoFit/>
          </a:bodyPr>
          <a:lstStyle/>
          <a:p>
            <a:pPr algn="l"/>
            <a:r>
              <a:rPr sz="1150" b="0" i="0">
                <a:solidFill>
                  <a:srgbClr val="212121"/>
                </a:solidFill>
                <a:latin typeface="Calibri"/>
              </a:rPr>
              <a:t>The confusion matrix shows Fear and Surprise are most commonly misclassified as each other — both involve raised eyebrows, wide eyes, and open mouth. This ambiguity exists even in human annotators on FER2013.</a:t>
            </a:r>
          </a:p>
        </p:txBody>
      </p:sp>
      <p:sp>
        <p:nvSpPr>
          <p:cNvPr id="30" name="Rounded Rectangle 29"/>
          <p:cNvSpPr/>
          <p:nvPr/>
        </p:nvSpPr>
        <p:spPr>
          <a:xfrm>
            <a:off x="347472" y="5028123"/>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5055555"/>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5028123"/>
            <a:ext cx="6080760" cy="256032"/>
          </a:xfrm>
          <a:prstGeom prst="rect">
            <a:avLst/>
          </a:prstGeom>
          <a:noFill/>
        </p:spPr>
        <p:txBody>
          <a:bodyPr wrap="square">
            <a:spAutoFit/>
          </a:bodyPr>
          <a:lstStyle/>
          <a:p>
            <a:pPr algn="l"/>
            <a:r>
              <a:rPr sz="1300" b="1" i="0">
                <a:solidFill>
                  <a:srgbClr val="2E7D32"/>
                </a:solidFill>
                <a:latin typeface="Calibri"/>
              </a:rPr>
              <a:t>Overall test accuracy: competitive with FER2013 benchmarks</a:t>
            </a:r>
          </a:p>
        </p:txBody>
      </p:sp>
      <p:sp>
        <p:nvSpPr>
          <p:cNvPr id="33" name="TextBox 32"/>
          <p:cNvSpPr txBox="1"/>
          <p:nvPr/>
        </p:nvSpPr>
        <p:spPr>
          <a:xfrm>
            <a:off x="731520" y="5302443"/>
            <a:ext cx="6080760" cy="420624"/>
          </a:xfrm>
          <a:prstGeom prst="rect">
            <a:avLst/>
          </a:prstGeom>
          <a:noFill/>
        </p:spPr>
        <p:txBody>
          <a:bodyPr wrap="square">
            <a:spAutoFit/>
          </a:bodyPr>
          <a:lstStyle/>
          <a:p>
            <a:pPr algn="l"/>
            <a:r>
              <a:rPr sz="1150" b="0" i="0">
                <a:solidFill>
                  <a:srgbClr val="212121"/>
                </a:solidFill>
                <a:latin typeface="Calibri"/>
              </a:rPr>
              <a:t>The final test set accuracy is competitive with published CNN results on FER2013 (typically 63–73%). Human accuracy on FER2013 is approximately 65% — placing well-trained CNNs at or above human-level performance.</a:t>
            </a:r>
          </a:p>
        </p:txBody>
      </p:sp>
      <p:sp>
        <p:nvSpPr>
          <p:cNvPr id="34" name="Rounded Rectangle 33"/>
          <p:cNvSpPr/>
          <p:nvPr/>
        </p:nvSpPr>
        <p:spPr>
          <a:xfrm>
            <a:off x="6931152" y="2291383"/>
            <a:ext cx="4919472" cy="31272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931152" y="2291383"/>
            <a:ext cx="4919472" cy="292608"/>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22592" y="2327959"/>
            <a:ext cx="4736592" cy="237744"/>
          </a:xfrm>
          <a:prstGeom prst="rect">
            <a:avLst/>
          </a:prstGeom>
          <a:noFill/>
        </p:spPr>
        <p:txBody>
          <a:bodyPr wrap="square">
            <a:spAutoFit/>
          </a:bodyPr>
          <a:lstStyle/>
          <a:p>
            <a:pPr algn="l"/>
            <a:r>
              <a:rPr sz="1100" b="1" i="0">
                <a:solidFill>
                  <a:srgbClr val="FFFFFF"/>
                </a:solidFill>
                <a:latin typeface="Calibri"/>
              </a:rPr>
              <a:t>Per-Class Performance Summary</a:t>
            </a:r>
          </a:p>
        </p:txBody>
      </p:sp>
      <p:sp>
        <p:nvSpPr>
          <p:cNvPr id="37" name="TextBox 36"/>
          <p:cNvSpPr txBox="1"/>
          <p:nvPr/>
        </p:nvSpPr>
        <p:spPr>
          <a:xfrm>
            <a:off x="7040880" y="2657143"/>
            <a:ext cx="4736592" cy="329184"/>
          </a:xfrm>
          <a:prstGeom prst="rect">
            <a:avLst/>
          </a:prstGeom>
          <a:noFill/>
        </p:spPr>
        <p:txBody>
          <a:bodyPr wrap="square">
            <a:spAutoFit/>
          </a:bodyPr>
          <a:lstStyle/>
          <a:p>
            <a:pPr algn="l"/>
            <a:r>
              <a:rPr sz="1150" b="0" i="0">
                <a:solidFill>
                  <a:srgbClr val="212121"/>
                </a:solidFill>
                <a:latin typeface="Calibri"/>
              </a:rPr>
              <a:t>Happy: highest F1 — most visually distinct</a:t>
            </a:r>
          </a:p>
        </p:txBody>
      </p:sp>
      <p:sp>
        <p:nvSpPr>
          <p:cNvPr id="38" name="TextBox 37"/>
          <p:cNvSpPr txBox="1"/>
          <p:nvPr/>
        </p:nvSpPr>
        <p:spPr>
          <a:xfrm>
            <a:off x="7040880" y="3004615"/>
            <a:ext cx="4736592" cy="329184"/>
          </a:xfrm>
          <a:prstGeom prst="rect">
            <a:avLst/>
          </a:prstGeom>
          <a:noFill/>
        </p:spPr>
        <p:txBody>
          <a:bodyPr wrap="square">
            <a:spAutoFit/>
          </a:bodyPr>
          <a:lstStyle/>
          <a:p>
            <a:pPr algn="l"/>
            <a:r>
              <a:rPr sz="1150" b="0" i="0">
                <a:solidFill>
                  <a:srgbClr val="212121"/>
                </a:solidFill>
                <a:latin typeface="Calibri"/>
              </a:rPr>
              <a:t>Sad: moderate F1 — confused with Neutral</a:t>
            </a:r>
          </a:p>
        </p:txBody>
      </p:sp>
      <p:sp>
        <p:nvSpPr>
          <p:cNvPr id="39" name="TextBox 38"/>
          <p:cNvSpPr txBox="1"/>
          <p:nvPr/>
        </p:nvSpPr>
        <p:spPr>
          <a:xfrm>
            <a:off x="7040880" y="3352087"/>
            <a:ext cx="4736592" cy="329184"/>
          </a:xfrm>
          <a:prstGeom prst="rect">
            <a:avLst/>
          </a:prstGeom>
          <a:noFill/>
        </p:spPr>
        <p:txBody>
          <a:bodyPr wrap="square">
            <a:spAutoFit/>
          </a:bodyPr>
          <a:lstStyle/>
          <a:p>
            <a:pPr algn="l"/>
            <a:r>
              <a:rPr sz="1150" b="0" i="0">
                <a:solidFill>
                  <a:srgbClr val="212121"/>
                </a:solidFill>
                <a:latin typeface="Calibri"/>
              </a:rPr>
              <a:t>Angry: moderate F1 — confused with Disgust</a:t>
            </a:r>
          </a:p>
        </p:txBody>
      </p:sp>
      <p:sp>
        <p:nvSpPr>
          <p:cNvPr id="40" name="TextBox 39"/>
          <p:cNvSpPr txBox="1"/>
          <p:nvPr/>
        </p:nvSpPr>
        <p:spPr>
          <a:xfrm>
            <a:off x="7040880" y="3699559"/>
            <a:ext cx="4736592" cy="329184"/>
          </a:xfrm>
          <a:prstGeom prst="rect">
            <a:avLst/>
          </a:prstGeom>
          <a:noFill/>
        </p:spPr>
        <p:txBody>
          <a:bodyPr wrap="square">
            <a:spAutoFit/>
          </a:bodyPr>
          <a:lstStyle/>
          <a:p>
            <a:pPr algn="l"/>
            <a:r>
              <a:rPr sz="1150" b="0" i="0">
                <a:solidFill>
                  <a:srgbClr val="212121"/>
                </a:solidFill>
                <a:latin typeface="Calibri"/>
              </a:rPr>
              <a:t>Surprise: good F1 — confused with Fear</a:t>
            </a:r>
          </a:p>
        </p:txBody>
      </p:sp>
      <p:sp>
        <p:nvSpPr>
          <p:cNvPr id="41" name="TextBox 40"/>
          <p:cNvSpPr txBox="1"/>
          <p:nvPr/>
        </p:nvSpPr>
        <p:spPr>
          <a:xfrm>
            <a:off x="7040880" y="4047031"/>
            <a:ext cx="4736592" cy="329184"/>
          </a:xfrm>
          <a:prstGeom prst="rect">
            <a:avLst/>
          </a:prstGeom>
          <a:noFill/>
        </p:spPr>
        <p:txBody>
          <a:bodyPr wrap="square">
            <a:spAutoFit/>
          </a:bodyPr>
          <a:lstStyle/>
          <a:p>
            <a:pPr algn="l"/>
            <a:r>
              <a:rPr sz="1150" b="0" i="0">
                <a:solidFill>
                  <a:srgbClr val="212121"/>
                </a:solidFill>
                <a:latin typeface="Calibri"/>
              </a:rPr>
              <a:t>Fear: lower F1 — ambiguous with Surprise</a:t>
            </a:r>
          </a:p>
        </p:txBody>
      </p:sp>
      <p:sp>
        <p:nvSpPr>
          <p:cNvPr id="42" name="TextBox 41"/>
          <p:cNvSpPr txBox="1"/>
          <p:nvPr/>
        </p:nvSpPr>
        <p:spPr>
          <a:xfrm>
            <a:off x="7040880" y="4394503"/>
            <a:ext cx="4736592" cy="329184"/>
          </a:xfrm>
          <a:prstGeom prst="rect">
            <a:avLst/>
          </a:prstGeom>
          <a:noFill/>
        </p:spPr>
        <p:txBody>
          <a:bodyPr wrap="square">
            <a:spAutoFit/>
          </a:bodyPr>
          <a:lstStyle/>
          <a:p>
            <a:pPr algn="l"/>
            <a:r>
              <a:rPr sz="1150" b="0" i="0">
                <a:solidFill>
                  <a:srgbClr val="212121"/>
                </a:solidFill>
                <a:latin typeface="Calibri"/>
              </a:rPr>
              <a:t>Disgust: lowest F1 — fewest training samples</a:t>
            </a:r>
          </a:p>
        </p:txBody>
      </p:sp>
      <p:sp>
        <p:nvSpPr>
          <p:cNvPr id="43" name="TextBox 42"/>
          <p:cNvSpPr txBox="1"/>
          <p:nvPr/>
        </p:nvSpPr>
        <p:spPr>
          <a:xfrm>
            <a:off x="7040880" y="4741975"/>
            <a:ext cx="4736592" cy="329184"/>
          </a:xfrm>
          <a:prstGeom prst="rect">
            <a:avLst/>
          </a:prstGeom>
          <a:noFill/>
        </p:spPr>
        <p:txBody>
          <a:bodyPr wrap="square">
            <a:spAutoFit/>
          </a:bodyPr>
          <a:lstStyle/>
          <a:p>
            <a:pPr algn="l"/>
            <a:r>
              <a:rPr sz="1150" b="0" i="0">
                <a:solidFill>
                  <a:srgbClr val="212121"/>
                </a:solidFill>
                <a:latin typeface="Calibri"/>
              </a:rPr>
              <a:t>Neutral: good F1 — absence of strong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Deployment — Gradio Web Interface</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Deploy the trained CNN as a publicly accessible web application</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Make the emotion recognition model accessible to non-technical users and live demo audiences via a browser-based interface — without requiring any local Python installation or code execution.</a:t>
            </a:r>
          </a:p>
        </p:txBody>
      </p:sp>
      <p:sp>
        <p:nvSpPr>
          <p:cNvPr id="12" name="Rounded Rectangle 11"/>
          <p:cNvSpPr/>
          <p:nvPr/>
        </p:nvSpPr>
        <p:spPr>
          <a:xfrm>
            <a:off x="347472" y="1717458"/>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754034"/>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gr.Interface(fn=predict_emotion, inputs=gr.Image(type='pil', shape=(48,48)), outputs=gr.Label(num_top_classes=3), share=True) → Gradio shareable link</a:t>
            </a: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6492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6080760" cy="256032"/>
          </a:xfrm>
          <a:prstGeom prst="rect">
            <a:avLst/>
          </a:prstGeom>
          <a:noFill/>
        </p:spPr>
        <p:txBody>
          <a:bodyPr wrap="square">
            <a:spAutoFit/>
          </a:bodyPr>
          <a:lstStyle/>
          <a:p>
            <a:pPr algn="l"/>
            <a:r>
              <a:rPr sz="1300" b="1" i="0">
                <a:solidFill>
                  <a:srgbClr val="1D4F58"/>
                </a:solidFill>
                <a:latin typeface="Calibri"/>
              </a:rPr>
              <a:t>Gradio: instant web UI with one function call</a:t>
            </a:r>
          </a:p>
        </p:txBody>
      </p:sp>
      <p:sp>
        <p:nvSpPr>
          <p:cNvPr id="21" name="TextBox 20"/>
          <p:cNvSpPr txBox="1"/>
          <p:nvPr/>
        </p:nvSpPr>
        <p:spPr>
          <a:xfrm>
            <a:off x="731520" y="2743200"/>
            <a:ext cx="6080760" cy="420624"/>
          </a:xfrm>
          <a:prstGeom prst="rect">
            <a:avLst/>
          </a:prstGeom>
          <a:noFill/>
        </p:spPr>
        <p:txBody>
          <a:bodyPr wrap="square">
            <a:spAutoFit/>
          </a:bodyPr>
          <a:lstStyle/>
          <a:p>
            <a:pPr algn="l"/>
            <a:r>
              <a:rPr sz="1150" b="0" i="0">
                <a:solidFill>
                  <a:srgbClr val="212121"/>
                </a:solidFill>
                <a:latin typeface="Calibri"/>
              </a:rPr>
              <a:t>Gradio wraps the prediction function in a web interface with a single gr.Interface() call. The user uploads a photo → the interface converts it to grayscale 48×48 → calls predict_emotion() → returns top-3 emotion probabilities.</a:t>
            </a:r>
          </a:p>
        </p:txBody>
      </p:sp>
      <p:sp>
        <p:nvSpPr>
          <p:cNvPr id="22" name="Rounded Rectangle 21"/>
          <p:cNvSpPr/>
          <p:nvPr/>
        </p:nvSpPr>
        <p:spPr>
          <a:xfrm>
            <a:off x="347472" y="3362302"/>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389734"/>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362302"/>
            <a:ext cx="6080760" cy="256032"/>
          </a:xfrm>
          <a:prstGeom prst="rect">
            <a:avLst/>
          </a:prstGeom>
          <a:noFill/>
        </p:spPr>
        <p:txBody>
          <a:bodyPr wrap="square">
            <a:spAutoFit/>
          </a:bodyPr>
          <a:lstStyle/>
          <a:p>
            <a:pPr algn="l"/>
            <a:r>
              <a:rPr sz="1300" b="1" i="0">
                <a:solidFill>
                  <a:srgbClr val="1565C0"/>
                </a:solidFill>
                <a:latin typeface="Calibri"/>
              </a:rPr>
              <a:t>share=True generates a public URL (72-hr expiry)</a:t>
            </a:r>
          </a:p>
        </p:txBody>
      </p:sp>
      <p:sp>
        <p:nvSpPr>
          <p:cNvPr id="25" name="TextBox 24"/>
          <p:cNvSpPr txBox="1"/>
          <p:nvPr/>
        </p:nvSpPr>
        <p:spPr>
          <a:xfrm>
            <a:off x="731520" y="3636622"/>
            <a:ext cx="6080760" cy="420624"/>
          </a:xfrm>
          <a:prstGeom prst="rect">
            <a:avLst/>
          </a:prstGeom>
          <a:noFill/>
        </p:spPr>
        <p:txBody>
          <a:bodyPr wrap="square">
            <a:spAutoFit/>
          </a:bodyPr>
          <a:lstStyle/>
          <a:p>
            <a:pPr algn="l"/>
            <a:r>
              <a:rPr sz="1150" b="0" i="0">
                <a:solidFill>
                  <a:srgbClr val="212121"/>
                </a:solidFill>
                <a:latin typeface="Calibri"/>
              </a:rPr>
              <a:t>Setting share=True in Gradio creates a publicly accessible tunnelled URL (hosted on Gradio's servers) that works for 72 hours. Anyone with the link can test the model in their browser — no local setup required. Ideal for presentations and stakeholder demos.</a:t>
            </a:r>
          </a:p>
        </p:txBody>
      </p:sp>
      <p:sp>
        <p:nvSpPr>
          <p:cNvPr id="26" name="Rounded Rectangle 25"/>
          <p:cNvSpPr/>
          <p:nvPr/>
        </p:nvSpPr>
        <p:spPr>
          <a:xfrm>
            <a:off x="347472" y="4296065"/>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323497"/>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296065"/>
            <a:ext cx="6080760" cy="256032"/>
          </a:xfrm>
          <a:prstGeom prst="rect">
            <a:avLst/>
          </a:prstGeom>
          <a:noFill/>
        </p:spPr>
        <p:txBody>
          <a:bodyPr wrap="square">
            <a:spAutoFit/>
          </a:bodyPr>
          <a:lstStyle/>
          <a:p>
            <a:pPr algn="l"/>
            <a:r>
              <a:rPr sz="1300" b="1" i="0">
                <a:solidFill>
                  <a:srgbClr val="F59E0B"/>
                </a:solidFill>
                <a:latin typeface="Calibri"/>
              </a:rPr>
              <a:t>Preprocessing pipeline embedded in prediction function</a:t>
            </a:r>
          </a:p>
        </p:txBody>
      </p:sp>
      <p:sp>
        <p:nvSpPr>
          <p:cNvPr id="29" name="TextBox 28"/>
          <p:cNvSpPr txBox="1"/>
          <p:nvPr/>
        </p:nvSpPr>
        <p:spPr>
          <a:xfrm>
            <a:off x="731520" y="4570385"/>
            <a:ext cx="6080760" cy="420624"/>
          </a:xfrm>
          <a:prstGeom prst="rect">
            <a:avLst/>
          </a:prstGeom>
          <a:noFill/>
        </p:spPr>
        <p:txBody>
          <a:bodyPr wrap="square">
            <a:spAutoFit/>
          </a:bodyPr>
          <a:lstStyle/>
          <a:p>
            <a:pPr algn="l"/>
            <a:r>
              <a:rPr sz="1150" b="0" i="0">
                <a:solidFill>
                  <a:srgbClr val="212121"/>
                </a:solidFill>
                <a:latin typeface="Calibri"/>
              </a:rPr>
              <a:t>The predict_emotion() function applies the same preprocessing as training: grayscale conversion, resize to 48×48, normalise to [0,1], add batch dimension. This ensures the deployed model receives identically formatted input to what it was trained on.</a:t>
            </a:r>
          </a:p>
        </p:txBody>
      </p:sp>
      <p:sp>
        <p:nvSpPr>
          <p:cNvPr id="30" name="Rounded Rectangle 29"/>
          <p:cNvSpPr/>
          <p:nvPr/>
        </p:nvSpPr>
        <p:spPr>
          <a:xfrm>
            <a:off x="347472" y="5162593"/>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5190025"/>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5162593"/>
            <a:ext cx="6080760" cy="256032"/>
          </a:xfrm>
          <a:prstGeom prst="rect">
            <a:avLst/>
          </a:prstGeom>
          <a:noFill/>
        </p:spPr>
        <p:txBody>
          <a:bodyPr wrap="square">
            <a:spAutoFit/>
          </a:bodyPr>
          <a:lstStyle/>
          <a:p>
            <a:pPr algn="l"/>
            <a:r>
              <a:rPr sz="1300" b="1" i="0">
                <a:solidFill>
                  <a:srgbClr val="2E7D32"/>
                </a:solidFill>
                <a:latin typeface="Calibri"/>
              </a:rPr>
              <a:t>Output: top-3 emotion probabilities as percentage labels</a:t>
            </a:r>
          </a:p>
        </p:txBody>
      </p:sp>
      <p:sp>
        <p:nvSpPr>
          <p:cNvPr id="33" name="TextBox 32"/>
          <p:cNvSpPr txBox="1"/>
          <p:nvPr/>
        </p:nvSpPr>
        <p:spPr>
          <a:xfrm>
            <a:off x="731520" y="5436913"/>
            <a:ext cx="6080760" cy="420624"/>
          </a:xfrm>
          <a:prstGeom prst="rect">
            <a:avLst/>
          </a:prstGeom>
          <a:noFill/>
        </p:spPr>
        <p:txBody>
          <a:bodyPr wrap="square">
            <a:spAutoFit/>
          </a:bodyPr>
          <a:lstStyle/>
          <a:p>
            <a:pPr algn="l"/>
            <a:r>
              <a:rPr sz="1150" b="0" i="0">
                <a:solidFill>
                  <a:srgbClr val="212121"/>
                </a:solidFill>
                <a:latin typeface="Calibri"/>
              </a:rPr>
              <a:t>The Gradio output shows the top 3 predicted emotions with their softmax probability percentages. This is more informative than a single label — the user can see whether the model is highly confident (90% Happy) or uncertain (35% Fear, 32% Surprise).</a:t>
            </a:r>
          </a:p>
        </p:txBody>
      </p:sp>
      <p:sp>
        <p:nvSpPr>
          <p:cNvPr id="34" name="Rounded Rectangle 33"/>
          <p:cNvSpPr/>
          <p:nvPr/>
        </p:nvSpPr>
        <p:spPr>
          <a:xfrm>
            <a:off x="6931152" y="2301603"/>
            <a:ext cx="4919472" cy="2633472"/>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931152" y="2301603"/>
            <a:ext cx="4919472" cy="2926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22592" y="2338179"/>
            <a:ext cx="4736592" cy="237744"/>
          </a:xfrm>
          <a:prstGeom prst="rect">
            <a:avLst/>
          </a:prstGeom>
          <a:noFill/>
        </p:spPr>
        <p:txBody>
          <a:bodyPr wrap="square">
            <a:spAutoFit/>
          </a:bodyPr>
          <a:lstStyle/>
          <a:p>
            <a:pPr algn="l"/>
            <a:r>
              <a:rPr sz="1100" b="1" i="0">
                <a:solidFill>
                  <a:srgbClr val="FFFFFF"/>
                </a:solidFill>
                <a:latin typeface="Calibri"/>
              </a:rPr>
              <a:t>Gradio Deployment Architecture</a:t>
            </a:r>
          </a:p>
        </p:txBody>
      </p:sp>
      <p:sp>
        <p:nvSpPr>
          <p:cNvPr id="37" name="TextBox 36"/>
          <p:cNvSpPr txBox="1"/>
          <p:nvPr/>
        </p:nvSpPr>
        <p:spPr>
          <a:xfrm>
            <a:off x="7040880" y="2667363"/>
            <a:ext cx="4736592" cy="329184"/>
          </a:xfrm>
          <a:prstGeom prst="rect">
            <a:avLst/>
          </a:prstGeom>
          <a:noFill/>
        </p:spPr>
        <p:txBody>
          <a:bodyPr wrap="square">
            <a:spAutoFit/>
          </a:bodyPr>
          <a:lstStyle/>
          <a:p>
            <a:pPr algn="l"/>
            <a:r>
              <a:rPr sz="1150" b="0" i="0">
                <a:solidFill>
                  <a:srgbClr val="212121"/>
                </a:solidFill>
                <a:latin typeface="Calibri"/>
              </a:rPr>
              <a:t>User: uploads photo via browser</a:t>
            </a:r>
          </a:p>
        </p:txBody>
      </p:sp>
      <p:sp>
        <p:nvSpPr>
          <p:cNvPr id="38" name="TextBox 37"/>
          <p:cNvSpPr txBox="1"/>
          <p:nvPr/>
        </p:nvSpPr>
        <p:spPr>
          <a:xfrm>
            <a:off x="7040880" y="3014835"/>
            <a:ext cx="4736592" cy="329184"/>
          </a:xfrm>
          <a:prstGeom prst="rect">
            <a:avLst/>
          </a:prstGeom>
          <a:noFill/>
        </p:spPr>
        <p:txBody>
          <a:bodyPr wrap="square">
            <a:spAutoFit/>
          </a:bodyPr>
          <a:lstStyle/>
          <a:p>
            <a:pPr algn="l"/>
            <a:r>
              <a:rPr sz="1150" b="0" i="0">
                <a:solidFill>
                  <a:srgbClr val="212121"/>
                </a:solidFill>
                <a:latin typeface="Calibri"/>
              </a:rPr>
              <a:t>Step 1: convert to grayscale 48×48</a:t>
            </a:r>
          </a:p>
        </p:txBody>
      </p:sp>
      <p:sp>
        <p:nvSpPr>
          <p:cNvPr id="39" name="TextBox 38"/>
          <p:cNvSpPr txBox="1"/>
          <p:nvPr/>
        </p:nvSpPr>
        <p:spPr>
          <a:xfrm>
            <a:off x="7040880" y="3362307"/>
            <a:ext cx="4736592" cy="329184"/>
          </a:xfrm>
          <a:prstGeom prst="rect">
            <a:avLst/>
          </a:prstGeom>
          <a:noFill/>
        </p:spPr>
        <p:txBody>
          <a:bodyPr wrap="square">
            <a:spAutoFit/>
          </a:bodyPr>
          <a:lstStyle/>
          <a:p>
            <a:pPr algn="l"/>
            <a:r>
              <a:rPr sz="1150" b="0" i="0">
                <a:solidFill>
                  <a:srgbClr val="212121"/>
                </a:solidFill>
                <a:latin typeface="Calibri"/>
              </a:rPr>
              <a:t>Step 2: normalise pixels to [0,1]</a:t>
            </a:r>
          </a:p>
        </p:txBody>
      </p:sp>
      <p:sp>
        <p:nvSpPr>
          <p:cNvPr id="40" name="TextBox 39"/>
          <p:cNvSpPr txBox="1"/>
          <p:nvPr/>
        </p:nvSpPr>
        <p:spPr>
          <a:xfrm>
            <a:off x="7040880" y="3709779"/>
            <a:ext cx="4736592" cy="329184"/>
          </a:xfrm>
          <a:prstGeom prst="rect">
            <a:avLst/>
          </a:prstGeom>
          <a:noFill/>
        </p:spPr>
        <p:txBody>
          <a:bodyPr wrap="square">
            <a:spAutoFit/>
          </a:bodyPr>
          <a:lstStyle/>
          <a:p>
            <a:pPr algn="l"/>
            <a:r>
              <a:rPr sz="1150" b="0" i="0">
                <a:solidFill>
                  <a:srgbClr val="212121"/>
                </a:solidFill>
                <a:latin typeface="Calibri"/>
              </a:rPr>
              <a:t>Step 3: model.predict() → 7 softmax probs</a:t>
            </a:r>
          </a:p>
        </p:txBody>
      </p:sp>
      <p:sp>
        <p:nvSpPr>
          <p:cNvPr id="41" name="TextBox 40"/>
          <p:cNvSpPr txBox="1"/>
          <p:nvPr/>
        </p:nvSpPr>
        <p:spPr>
          <a:xfrm>
            <a:off x="7040880" y="4057251"/>
            <a:ext cx="4736592" cy="329184"/>
          </a:xfrm>
          <a:prstGeom prst="rect">
            <a:avLst/>
          </a:prstGeom>
          <a:noFill/>
        </p:spPr>
        <p:txBody>
          <a:bodyPr wrap="square">
            <a:spAutoFit/>
          </a:bodyPr>
          <a:lstStyle/>
          <a:p>
            <a:pPr algn="l"/>
            <a:r>
              <a:rPr sz="1150" b="0" i="0">
                <a:solidFill>
                  <a:srgbClr val="212121"/>
                </a:solidFill>
                <a:latin typeface="Calibri"/>
              </a:rPr>
              <a:t>Step 4: return top-3 emotions + probabilities</a:t>
            </a:r>
          </a:p>
        </p:txBody>
      </p:sp>
      <p:sp>
        <p:nvSpPr>
          <p:cNvPr id="42" name="TextBox 41"/>
          <p:cNvSpPr txBox="1"/>
          <p:nvPr/>
        </p:nvSpPr>
        <p:spPr>
          <a:xfrm>
            <a:off x="7040880" y="4404723"/>
            <a:ext cx="4736592" cy="329184"/>
          </a:xfrm>
          <a:prstGeom prst="rect">
            <a:avLst/>
          </a:prstGeom>
          <a:noFill/>
        </p:spPr>
        <p:txBody>
          <a:bodyPr wrap="square">
            <a:spAutoFit/>
          </a:bodyPr>
          <a:lstStyle/>
          <a:p>
            <a:pPr algn="l"/>
            <a:r>
              <a:rPr sz="1150" b="0" i="0">
                <a:solidFill>
                  <a:srgbClr val="212121"/>
                </a:solidFill>
                <a:latin typeface="Calibri"/>
              </a:rPr>
              <a:t>Hosting: Gradio public tunnel (share=True, 72 hrs)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5EE4-D13F-52BD-8571-97F13E9791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90F443-C9E8-AE29-96AF-7A0A2D04CBF3}"/>
              </a:ext>
            </a:extLst>
          </p:cNvPr>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271D5752-A3DD-7A5E-EA00-6E0C1AD622E2}"/>
              </a:ext>
            </a:extLst>
          </p:cNvPr>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3D9820B0-8C22-3047-9157-DF69CC62E8A2}"/>
              </a:ext>
            </a:extLst>
          </p:cNvPr>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85FFD1D-7197-C403-4DA0-84D4AD941475}"/>
              </a:ext>
            </a:extLst>
          </p:cNvPr>
          <p:cNvSpPr txBox="1"/>
          <p:nvPr/>
        </p:nvSpPr>
        <p:spPr>
          <a:xfrm>
            <a:off x="365760" y="118872"/>
            <a:ext cx="11155680" cy="523220"/>
          </a:xfrm>
          <a:prstGeom prst="rect">
            <a:avLst/>
          </a:prstGeom>
          <a:noFill/>
        </p:spPr>
        <p:txBody>
          <a:bodyPr wrap="square">
            <a:spAutoFit/>
          </a:bodyPr>
          <a:lstStyle/>
          <a:p>
            <a:pPr algn="l"/>
            <a:r>
              <a:rPr sz="2800" b="1" i="0" dirty="0">
                <a:solidFill>
                  <a:srgbClr val="FFFFFF"/>
                </a:solidFill>
                <a:latin typeface="Calibri"/>
              </a:rPr>
              <a:t>Deployment — </a:t>
            </a:r>
            <a:r>
              <a:rPr lang="en-IN" sz="2800" b="1" dirty="0">
                <a:solidFill>
                  <a:srgbClr val="FFFFFF"/>
                </a:solidFill>
                <a:latin typeface="Calibri"/>
              </a:rPr>
              <a:t>Results</a:t>
            </a:r>
            <a:endParaRPr sz="2800" b="1" i="0" dirty="0">
              <a:solidFill>
                <a:srgbClr val="FFFFFF"/>
              </a:solidFill>
              <a:latin typeface="Calibri"/>
            </a:endParaRPr>
          </a:p>
        </p:txBody>
      </p:sp>
      <p:sp>
        <p:nvSpPr>
          <p:cNvPr id="7" name="Rectangle 6">
            <a:extLst>
              <a:ext uri="{FF2B5EF4-FFF2-40B4-BE49-F238E27FC236}">
                <a16:creationId xmlns:a16="http://schemas.microsoft.com/office/drawing/2014/main" id="{7D80AEC2-74CA-6BC3-4426-290D62CCE79C}"/>
              </a:ext>
            </a:extLst>
          </p:cNvPr>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786EB81-6D8C-7736-153E-7A27DFE36764}"/>
              </a:ext>
            </a:extLst>
          </p:cNvPr>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pic>
        <p:nvPicPr>
          <p:cNvPr id="43" name="Picture 42">
            <a:extLst>
              <a:ext uri="{FF2B5EF4-FFF2-40B4-BE49-F238E27FC236}">
                <a16:creationId xmlns:a16="http://schemas.microsoft.com/office/drawing/2014/main" id="{CDF34988-A5D8-CACF-1279-ECEB5E3783E3}"/>
              </a:ext>
            </a:extLst>
          </p:cNvPr>
          <p:cNvPicPr>
            <a:picLocks noChangeAspect="1"/>
          </p:cNvPicPr>
          <p:nvPr/>
        </p:nvPicPr>
        <p:blipFill>
          <a:blip r:embed="rId2"/>
          <a:stretch>
            <a:fillRect/>
          </a:stretch>
        </p:blipFill>
        <p:spPr>
          <a:xfrm>
            <a:off x="2325" y="1195075"/>
            <a:ext cx="6092089" cy="2233925"/>
          </a:xfrm>
          <a:prstGeom prst="rect">
            <a:avLst/>
          </a:prstGeom>
        </p:spPr>
      </p:pic>
      <p:pic>
        <p:nvPicPr>
          <p:cNvPr id="45" name="Picture 44">
            <a:extLst>
              <a:ext uri="{FF2B5EF4-FFF2-40B4-BE49-F238E27FC236}">
                <a16:creationId xmlns:a16="http://schemas.microsoft.com/office/drawing/2014/main" id="{87BB08D5-511D-8D3E-72BD-6621B2321B22}"/>
              </a:ext>
            </a:extLst>
          </p:cNvPr>
          <p:cNvPicPr>
            <a:picLocks noChangeAspect="1"/>
          </p:cNvPicPr>
          <p:nvPr/>
        </p:nvPicPr>
        <p:blipFill>
          <a:blip r:embed="rId3"/>
          <a:stretch>
            <a:fillRect/>
          </a:stretch>
        </p:blipFill>
        <p:spPr>
          <a:xfrm>
            <a:off x="6094414" y="3429000"/>
            <a:ext cx="6094411" cy="3021202"/>
          </a:xfrm>
          <a:prstGeom prst="rect">
            <a:avLst/>
          </a:prstGeom>
        </p:spPr>
      </p:pic>
      <p:pic>
        <p:nvPicPr>
          <p:cNvPr id="47" name="Picture 46">
            <a:extLst>
              <a:ext uri="{FF2B5EF4-FFF2-40B4-BE49-F238E27FC236}">
                <a16:creationId xmlns:a16="http://schemas.microsoft.com/office/drawing/2014/main" id="{CE5DFD77-61CF-B110-29B2-EA5F8B6FECD3}"/>
              </a:ext>
            </a:extLst>
          </p:cNvPr>
          <p:cNvPicPr>
            <a:picLocks noChangeAspect="1"/>
          </p:cNvPicPr>
          <p:nvPr/>
        </p:nvPicPr>
        <p:blipFill>
          <a:blip r:embed="rId4"/>
          <a:stretch>
            <a:fillRect/>
          </a:stretch>
        </p:blipFill>
        <p:spPr>
          <a:xfrm>
            <a:off x="6124217" y="1143000"/>
            <a:ext cx="6034804" cy="2538805"/>
          </a:xfrm>
          <a:prstGeom prst="rect">
            <a:avLst/>
          </a:prstGeom>
        </p:spPr>
      </p:pic>
      <p:pic>
        <p:nvPicPr>
          <p:cNvPr id="49" name="Picture 48">
            <a:extLst>
              <a:ext uri="{FF2B5EF4-FFF2-40B4-BE49-F238E27FC236}">
                <a16:creationId xmlns:a16="http://schemas.microsoft.com/office/drawing/2014/main" id="{A176C981-F9D9-CD66-48DA-B6A4A28D9182}"/>
              </a:ext>
            </a:extLst>
          </p:cNvPr>
          <p:cNvPicPr>
            <a:picLocks noChangeAspect="1"/>
          </p:cNvPicPr>
          <p:nvPr/>
        </p:nvPicPr>
        <p:blipFill>
          <a:blip r:embed="rId5"/>
          <a:stretch>
            <a:fillRect/>
          </a:stretch>
        </p:blipFill>
        <p:spPr>
          <a:xfrm>
            <a:off x="29804" y="3589143"/>
            <a:ext cx="6133830" cy="2538806"/>
          </a:xfrm>
          <a:prstGeom prst="rect">
            <a:avLst/>
          </a:prstGeom>
        </p:spPr>
      </p:pic>
    </p:spTree>
    <p:extLst>
      <p:ext uri="{BB962C8B-B14F-4D97-AF65-F5344CB8AC3E}">
        <p14:creationId xmlns:p14="http://schemas.microsoft.com/office/powerpoint/2010/main" val="532620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Conclusion, Challenges &amp; Future Work</a:t>
            </a:r>
          </a:p>
        </p:txBody>
      </p:sp>
      <p:sp>
        <p:nvSpPr>
          <p:cNvPr id="6" name="Rectangle 5"/>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Facial Emotion Recognition Using Deep Learning (CNN)  |  Vishal Kumar Singh  |  2026</a:t>
            </a:r>
          </a:p>
        </p:txBody>
      </p:sp>
      <p:sp>
        <p:nvSpPr>
          <p:cNvPr id="8" name="Rounded Rectangle 7"/>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0" name="TextBox 9"/>
          <p:cNvSpPr txBox="1"/>
          <p:nvPr/>
        </p:nvSpPr>
        <p:spPr>
          <a:xfrm>
            <a:off x="1627632" y="1325880"/>
            <a:ext cx="10177272" cy="256032"/>
          </a:xfrm>
          <a:prstGeom prst="rect">
            <a:avLst/>
          </a:prstGeom>
          <a:noFill/>
        </p:spPr>
        <p:txBody>
          <a:bodyPr wrap="square">
            <a:spAutoFit/>
          </a:bodyPr>
          <a:lstStyle/>
          <a:p>
            <a:pPr algn="l"/>
            <a:r>
              <a:rPr sz="1150" b="0" i="1" dirty="0" err="1">
                <a:solidFill>
                  <a:srgbClr val="546E7A"/>
                </a:solidFill>
                <a:latin typeface="Calibri"/>
              </a:rPr>
              <a:t>Summarise</a:t>
            </a:r>
            <a:r>
              <a:rPr sz="1150" b="0" i="1" dirty="0">
                <a:solidFill>
                  <a:srgbClr val="546E7A"/>
                </a:solidFill>
                <a:latin typeface="Calibri"/>
              </a:rPr>
              <a:t> the complete project — architecture choices, training results, deployment — and identify concrete limitations and improvements for production-scale deployment.</a:t>
            </a:r>
          </a:p>
        </p:txBody>
      </p:sp>
      <p:sp>
        <p:nvSpPr>
          <p:cNvPr id="12" name="Rectangle 11"/>
          <p:cNvSpPr/>
          <p:nvPr/>
        </p:nvSpPr>
        <p:spPr>
          <a:xfrm>
            <a:off x="320040" y="2176272"/>
            <a:ext cx="3767328" cy="411480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176272"/>
            <a:ext cx="3767328" cy="9144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249424"/>
            <a:ext cx="3611880" cy="292608"/>
          </a:xfrm>
          <a:prstGeom prst="rect">
            <a:avLst/>
          </a:prstGeom>
          <a:noFill/>
        </p:spPr>
        <p:txBody>
          <a:bodyPr wrap="square">
            <a:spAutoFit/>
          </a:bodyPr>
          <a:lstStyle/>
          <a:p>
            <a:pPr algn="ctr"/>
            <a:r>
              <a:rPr sz="1500" b="1" i="0">
                <a:solidFill>
                  <a:srgbClr val="1D4F58"/>
                </a:solidFill>
                <a:latin typeface="Calibri"/>
              </a:rPr>
              <a:t>What Was Built</a:t>
            </a:r>
          </a:p>
        </p:txBody>
      </p:sp>
      <p:sp>
        <p:nvSpPr>
          <p:cNvPr id="15" name="TextBox 14"/>
          <p:cNvSpPr txBox="1"/>
          <p:nvPr/>
        </p:nvSpPr>
        <p:spPr>
          <a:xfrm>
            <a:off x="457200" y="2633472"/>
            <a:ext cx="3611880" cy="530352"/>
          </a:xfrm>
          <a:prstGeom prst="rect">
            <a:avLst/>
          </a:prstGeom>
          <a:noFill/>
        </p:spPr>
        <p:txBody>
          <a:bodyPr wrap="square">
            <a:spAutoFit/>
          </a:bodyPr>
          <a:lstStyle/>
          <a:p>
            <a:pPr algn="l"/>
            <a:r>
              <a:rPr sz="1150" b="0" i="0">
                <a:solidFill>
                  <a:srgbClr val="212121"/>
                </a:solidFill>
                <a:latin typeface="Calibri"/>
              </a:rPr>
              <a:t>▸  CNN: 6 Conv2D + BN + GAP + Dense(256) + Softmax</a:t>
            </a:r>
          </a:p>
        </p:txBody>
      </p:sp>
      <p:sp>
        <p:nvSpPr>
          <p:cNvPr id="16" name="TextBox 15"/>
          <p:cNvSpPr txBox="1"/>
          <p:nvPr/>
        </p:nvSpPr>
        <p:spPr>
          <a:xfrm>
            <a:off x="457200" y="3182112"/>
            <a:ext cx="3611880" cy="530352"/>
          </a:xfrm>
          <a:prstGeom prst="rect">
            <a:avLst/>
          </a:prstGeom>
          <a:noFill/>
        </p:spPr>
        <p:txBody>
          <a:bodyPr wrap="square">
            <a:spAutoFit/>
          </a:bodyPr>
          <a:lstStyle/>
          <a:p>
            <a:pPr algn="l"/>
            <a:r>
              <a:rPr sz="1150" b="0" i="0">
                <a:solidFill>
                  <a:srgbClr val="212121"/>
                </a:solidFill>
                <a:latin typeface="Calibri"/>
              </a:rPr>
              <a:t>▸  Trained on FER2013 (35,887 images, 7 classes)</a:t>
            </a:r>
          </a:p>
        </p:txBody>
      </p:sp>
      <p:sp>
        <p:nvSpPr>
          <p:cNvPr id="17" name="TextBox 16"/>
          <p:cNvSpPr txBox="1"/>
          <p:nvPr/>
        </p:nvSpPr>
        <p:spPr>
          <a:xfrm>
            <a:off x="457200" y="3730752"/>
            <a:ext cx="3611880" cy="530352"/>
          </a:xfrm>
          <a:prstGeom prst="rect">
            <a:avLst/>
          </a:prstGeom>
          <a:noFill/>
        </p:spPr>
        <p:txBody>
          <a:bodyPr wrap="square">
            <a:spAutoFit/>
          </a:bodyPr>
          <a:lstStyle/>
          <a:p>
            <a:pPr algn="l"/>
            <a:r>
              <a:rPr sz="1150" b="0" i="0">
                <a:solidFill>
                  <a:srgbClr val="212121"/>
                </a:solidFill>
                <a:latin typeface="Calibri"/>
              </a:rPr>
              <a:t>▸  Data augmentation: rotation, zoom, flip, brightness</a:t>
            </a:r>
          </a:p>
        </p:txBody>
      </p:sp>
      <p:sp>
        <p:nvSpPr>
          <p:cNvPr id="18" name="TextBox 17"/>
          <p:cNvSpPr txBox="1"/>
          <p:nvPr/>
        </p:nvSpPr>
        <p:spPr>
          <a:xfrm>
            <a:off x="457200" y="4279392"/>
            <a:ext cx="3611880" cy="530352"/>
          </a:xfrm>
          <a:prstGeom prst="rect">
            <a:avLst/>
          </a:prstGeom>
          <a:noFill/>
        </p:spPr>
        <p:txBody>
          <a:bodyPr wrap="square">
            <a:spAutoFit/>
          </a:bodyPr>
          <a:lstStyle/>
          <a:p>
            <a:pPr algn="l"/>
            <a:r>
              <a:rPr sz="1150" b="0" i="0">
                <a:solidFill>
                  <a:srgbClr val="212121"/>
                </a:solidFill>
                <a:latin typeface="Calibri"/>
              </a:rPr>
              <a:t>▸  Callbacks: ModelCheckpoint + EarlyStopping + ReduceLR</a:t>
            </a:r>
          </a:p>
        </p:txBody>
      </p:sp>
      <p:sp>
        <p:nvSpPr>
          <p:cNvPr id="19" name="TextBox 18"/>
          <p:cNvSpPr txBox="1"/>
          <p:nvPr/>
        </p:nvSpPr>
        <p:spPr>
          <a:xfrm>
            <a:off x="457200" y="4828032"/>
            <a:ext cx="3611880" cy="530352"/>
          </a:xfrm>
          <a:prstGeom prst="rect">
            <a:avLst/>
          </a:prstGeom>
          <a:noFill/>
        </p:spPr>
        <p:txBody>
          <a:bodyPr wrap="square">
            <a:spAutoFit/>
          </a:bodyPr>
          <a:lstStyle/>
          <a:p>
            <a:pPr algn="l"/>
            <a:r>
              <a:rPr sz="1150" b="0" i="0">
                <a:solidFill>
                  <a:srgbClr val="212121"/>
                </a:solidFill>
                <a:latin typeface="Calibri"/>
              </a:rPr>
              <a:t>▸  Evaluation: per-class precision/recall/F1 matrix</a:t>
            </a:r>
          </a:p>
        </p:txBody>
      </p:sp>
      <p:sp>
        <p:nvSpPr>
          <p:cNvPr id="20" name="TextBox 19"/>
          <p:cNvSpPr txBox="1"/>
          <p:nvPr/>
        </p:nvSpPr>
        <p:spPr>
          <a:xfrm>
            <a:off x="457200" y="5376672"/>
            <a:ext cx="3611880" cy="530352"/>
          </a:xfrm>
          <a:prstGeom prst="rect">
            <a:avLst/>
          </a:prstGeom>
          <a:noFill/>
        </p:spPr>
        <p:txBody>
          <a:bodyPr wrap="square">
            <a:spAutoFit/>
          </a:bodyPr>
          <a:lstStyle/>
          <a:p>
            <a:pPr algn="l"/>
            <a:r>
              <a:rPr sz="1150" b="0" i="0">
                <a:solidFill>
                  <a:srgbClr val="212121"/>
                </a:solidFill>
                <a:latin typeface="Calibri"/>
              </a:rPr>
              <a:t>▸  Deployment: Gradio shareable web interface</a:t>
            </a:r>
          </a:p>
        </p:txBody>
      </p:sp>
      <p:sp>
        <p:nvSpPr>
          <p:cNvPr id="21" name="Rectangle 20"/>
          <p:cNvSpPr/>
          <p:nvPr/>
        </p:nvSpPr>
        <p:spPr>
          <a:xfrm>
            <a:off x="4251960" y="2176272"/>
            <a:ext cx="3767328" cy="411480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51960" y="2176272"/>
            <a:ext cx="3767328"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0" y="2249424"/>
            <a:ext cx="3611880" cy="292608"/>
          </a:xfrm>
          <a:prstGeom prst="rect">
            <a:avLst/>
          </a:prstGeom>
          <a:noFill/>
        </p:spPr>
        <p:txBody>
          <a:bodyPr wrap="square">
            <a:spAutoFit/>
          </a:bodyPr>
          <a:lstStyle/>
          <a:p>
            <a:pPr algn="ctr"/>
            <a:r>
              <a:rPr sz="1500" b="1" i="0">
                <a:solidFill>
                  <a:srgbClr val="1565C0"/>
                </a:solidFill>
                <a:latin typeface="Calibri"/>
              </a:rPr>
              <a:t>Challenges &amp; Findings</a:t>
            </a:r>
          </a:p>
        </p:txBody>
      </p:sp>
      <p:sp>
        <p:nvSpPr>
          <p:cNvPr id="24" name="TextBox 23"/>
          <p:cNvSpPr txBox="1"/>
          <p:nvPr/>
        </p:nvSpPr>
        <p:spPr>
          <a:xfrm>
            <a:off x="4389120" y="2633472"/>
            <a:ext cx="3611880" cy="530352"/>
          </a:xfrm>
          <a:prstGeom prst="rect">
            <a:avLst/>
          </a:prstGeom>
          <a:noFill/>
        </p:spPr>
        <p:txBody>
          <a:bodyPr wrap="square">
            <a:spAutoFit/>
          </a:bodyPr>
          <a:lstStyle/>
          <a:p>
            <a:pPr algn="l"/>
            <a:r>
              <a:rPr sz="1150" b="0" i="0">
                <a:solidFill>
                  <a:srgbClr val="212121"/>
                </a:solidFill>
                <a:latin typeface="Calibri"/>
              </a:rPr>
              <a:t>▸  Disgust: lowest F1 due to 547 training images (~2× fewer)</a:t>
            </a:r>
          </a:p>
        </p:txBody>
      </p:sp>
      <p:sp>
        <p:nvSpPr>
          <p:cNvPr id="25" name="TextBox 24"/>
          <p:cNvSpPr txBox="1"/>
          <p:nvPr/>
        </p:nvSpPr>
        <p:spPr>
          <a:xfrm>
            <a:off x="4389120" y="3182112"/>
            <a:ext cx="3611880" cy="530352"/>
          </a:xfrm>
          <a:prstGeom prst="rect">
            <a:avLst/>
          </a:prstGeom>
          <a:noFill/>
        </p:spPr>
        <p:txBody>
          <a:bodyPr wrap="square">
            <a:spAutoFit/>
          </a:bodyPr>
          <a:lstStyle/>
          <a:p>
            <a:pPr algn="l"/>
            <a:r>
              <a:rPr sz="1150" b="0" i="0">
                <a:solidFill>
                  <a:srgbClr val="212121"/>
                </a:solidFill>
                <a:latin typeface="Calibri"/>
              </a:rPr>
              <a:t>▸  Fear/Surprise: most confused pair (visually similar)</a:t>
            </a:r>
          </a:p>
        </p:txBody>
      </p:sp>
      <p:sp>
        <p:nvSpPr>
          <p:cNvPr id="26" name="TextBox 25"/>
          <p:cNvSpPr txBox="1"/>
          <p:nvPr/>
        </p:nvSpPr>
        <p:spPr>
          <a:xfrm>
            <a:off x="4389120" y="3730752"/>
            <a:ext cx="3611880" cy="530352"/>
          </a:xfrm>
          <a:prstGeom prst="rect">
            <a:avLst/>
          </a:prstGeom>
          <a:noFill/>
        </p:spPr>
        <p:txBody>
          <a:bodyPr wrap="square">
            <a:spAutoFit/>
          </a:bodyPr>
          <a:lstStyle/>
          <a:p>
            <a:pPr algn="l"/>
            <a:r>
              <a:rPr sz="1150" b="0" i="0">
                <a:solidFill>
                  <a:srgbClr val="212121"/>
                </a:solidFill>
                <a:latin typeface="Calibri"/>
              </a:rPr>
              <a:t>▸  Class imbalance: class_weight partially compensates</a:t>
            </a:r>
          </a:p>
        </p:txBody>
      </p:sp>
      <p:sp>
        <p:nvSpPr>
          <p:cNvPr id="27" name="TextBox 26"/>
          <p:cNvSpPr txBox="1"/>
          <p:nvPr/>
        </p:nvSpPr>
        <p:spPr>
          <a:xfrm>
            <a:off x="4389120" y="4279392"/>
            <a:ext cx="3611880" cy="530352"/>
          </a:xfrm>
          <a:prstGeom prst="rect">
            <a:avLst/>
          </a:prstGeom>
          <a:noFill/>
        </p:spPr>
        <p:txBody>
          <a:bodyPr wrap="square">
            <a:spAutoFit/>
          </a:bodyPr>
          <a:lstStyle/>
          <a:p>
            <a:pPr algn="l"/>
            <a:r>
              <a:rPr sz="1150" b="0" i="0">
                <a:solidFill>
                  <a:srgbClr val="212121"/>
                </a:solidFill>
                <a:latin typeface="Calibri"/>
              </a:rPr>
              <a:t>▸  Human accuracy on FER2013 ≈ 65% (model competitive)</a:t>
            </a:r>
          </a:p>
        </p:txBody>
      </p:sp>
      <p:sp>
        <p:nvSpPr>
          <p:cNvPr id="28" name="TextBox 27"/>
          <p:cNvSpPr txBox="1"/>
          <p:nvPr/>
        </p:nvSpPr>
        <p:spPr>
          <a:xfrm>
            <a:off x="4389120" y="4828032"/>
            <a:ext cx="3611880" cy="530352"/>
          </a:xfrm>
          <a:prstGeom prst="rect">
            <a:avLst/>
          </a:prstGeom>
          <a:noFill/>
        </p:spPr>
        <p:txBody>
          <a:bodyPr wrap="square">
            <a:spAutoFit/>
          </a:bodyPr>
          <a:lstStyle/>
          <a:p>
            <a:pPr algn="l"/>
            <a:r>
              <a:rPr sz="1150" b="0" i="0">
                <a:solidFill>
                  <a:srgbClr val="212121"/>
                </a:solidFill>
                <a:latin typeface="Calibri"/>
              </a:rPr>
              <a:t>▸  Grayscale limits colour-based emotion cues</a:t>
            </a:r>
          </a:p>
        </p:txBody>
      </p:sp>
      <p:sp>
        <p:nvSpPr>
          <p:cNvPr id="29" name="TextBox 28"/>
          <p:cNvSpPr txBox="1"/>
          <p:nvPr/>
        </p:nvSpPr>
        <p:spPr>
          <a:xfrm>
            <a:off x="4389120" y="5376672"/>
            <a:ext cx="3611880" cy="530352"/>
          </a:xfrm>
          <a:prstGeom prst="rect">
            <a:avLst/>
          </a:prstGeom>
          <a:noFill/>
        </p:spPr>
        <p:txBody>
          <a:bodyPr wrap="square">
            <a:spAutoFit/>
          </a:bodyPr>
          <a:lstStyle/>
          <a:p>
            <a:pPr algn="l"/>
            <a:r>
              <a:rPr sz="1150" b="0" i="0">
                <a:solidFill>
                  <a:srgbClr val="212121"/>
                </a:solidFill>
                <a:latin typeface="Calibri"/>
              </a:rPr>
              <a:t>▸  FER2013 lab images ≠ real-world wild faces</a:t>
            </a:r>
          </a:p>
        </p:txBody>
      </p:sp>
      <p:sp>
        <p:nvSpPr>
          <p:cNvPr id="30" name="Rectangle 29"/>
          <p:cNvSpPr/>
          <p:nvPr/>
        </p:nvSpPr>
        <p:spPr>
          <a:xfrm>
            <a:off x="8183880" y="2176272"/>
            <a:ext cx="3767328" cy="411480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83880" y="2176272"/>
            <a:ext cx="3767328"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21040" y="2249424"/>
            <a:ext cx="3611880" cy="292608"/>
          </a:xfrm>
          <a:prstGeom prst="rect">
            <a:avLst/>
          </a:prstGeom>
          <a:noFill/>
        </p:spPr>
        <p:txBody>
          <a:bodyPr wrap="square">
            <a:spAutoFit/>
          </a:bodyPr>
          <a:lstStyle/>
          <a:p>
            <a:pPr algn="ctr"/>
            <a:r>
              <a:rPr sz="1500" b="1" i="0">
                <a:solidFill>
                  <a:srgbClr val="F59E0B"/>
                </a:solidFill>
                <a:latin typeface="Calibri"/>
              </a:rPr>
              <a:t>Future Work</a:t>
            </a:r>
          </a:p>
        </p:txBody>
      </p:sp>
      <p:sp>
        <p:nvSpPr>
          <p:cNvPr id="33" name="TextBox 32"/>
          <p:cNvSpPr txBox="1"/>
          <p:nvPr/>
        </p:nvSpPr>
        <p:spPr>
          <a:xfrm>
            <a:off x="8321040" y="2633472"/>
            <a:ext cx="3611880" cy="530352"/>
          </a:xfrm>
          <a:prstGeom prst="rect">
            <a:avLst/>
          </a:prstGeom>
          <a:noFill/>
        </p:spPr>
        <p:txBody>
          <a:bodyPr wrap="square">
            <a:spAutoFit/>
          </a:bodyPr>
          <a:lstStyle/>
          <a:p>
            <a:pPr algn="l"/>
            <a:r>
              <a:rPr sz="1150" b="0" i="0">
                <a:solidFill>
                  <a:srgbClr val="212121"/>
                </a:solidFill>
                <a:latin typeface="Calibri"/>
              </a:rPr>
              <a:t>▸  Collect more Disgust samples (GAN augmentation)</a:t>
            </a:r>
          </a:p>
        </p:txBody>
      </p:sp>
      <p:sp>
        <p:nvSpPr>
          <p:cNvPr id="34" name="TextBox 33"/>
          <p:cNvSpPr txBox="1"/>
          <p:nvPr/>
        </p:nvSpPr>
        <p:spPr>
          <a:xfrm>
            <a:off x="8321040" y="3182112"/>
            <a:ext cx="3611880" cy="530352"/>
          </a:xfrm>
          <a:prstGeom prst="rect">
            <a:avLst/>
          </a:prstGeom>
          <a:noFill/>
        </p:spPr>
        <p:txBody>
          <a:bodyPr wrap="square">
            <a:spAutoFit/>
          </a:bodyPr>
          <a:lstStyle/>
          <a:p>
            <a:pPr algn="l"/>
            <a:r>
              <a:rPr sz="1150" b="0" i="0">
                <a:solidFill>
                  <a:srgbClr val="212121"/>
                </a:solidFill>
                <a:latin typeface="Calibri"/>
              </a:rPr>
              <a:t>▸  Try ResNet50/EfficientNet backbone (transfer learning)</a:t>
            </a:r>
          </a:p>
        </p:txBody>
      </p:sp>
      <p:sp>
        <p:nvSpPr>
          <p:cNvPr id="35" name="TextBox 34"/>
          <p:cNvSpPr txBox="1"/>
          <p:nvPr/>
        </p:nvSpPr>
        <p:spPr>
          <a:xfrm>
            <a:off x="8321040" y="3730752"/>
            <a:ext cx="3611880" cy="530352"/>
          </a:xfrm>
          <a:prstGeom prst="rect">
            <a:avLst/>
          </a:prstGeom>
          <a:noFill/>
        </p:spPr>
        <p:txBody>
          <a:bodyPr wrap="square">
            <a:spAutoFit/>
          </a:bodyPr>
          <a:lstStyle/>
          <a:p>
            <a:pPr algn="l"/>
            <a:r>
              <a:rPr sz="1150" b="0" i="0">
                <a:solidFill>
                  <a:srgbClr val="212121"/>
                </a:solidFill>
                <a:latin typeface="Calibri"/>
              </a:rPr>
              <a:t>▸  Fine-tune on AffectNet for wild face robustness</a:t>
            </a:r>
          </a:p>
        </p:txBody>
      </p:sp>
      <p:sp>
        <p:nvSpPr>
          <p:cNvPr id="36" name="TextBox 35"/>
          <p:cNvSpPr txBox="1"/>
          <p:nvPr/>
        </p:nvSpPr>
        <p:spPr>
          <a:xfrm>
            <a:off x="8321040" y="4279392"/>
            <a:ext cx="3611880" cy="530352"/>
          </a:xfrm>
          <a:prstGeom prst="rect">
            <a:avLst/>
          </a:prstGeom>
          <a:noFill/>
        </p:spPr>
        <p:txBody>
          <a:bodyPr wrap="square">
            <a:spAutoFit/>
          </a:bodyPr>
          <a:lstStyle/>
          <a:p>
            <a:pPr algn="l"/>
            <a:r>
              <a:rPr sz="1150" b="0" i="0">
                <a:solidFill>
                  <a:srgbClr val="212121"/>
                </a:solidFill>
                <a:latin typeface="Calibri"/>
              </a:rPr>
              <a:t>▸  Add temporal (video) emotion tracking with LSTM</a:t>
            </a:r>
          </a:p>
        </p:txBody>
      </p:sp>
      <p:sp>
        <p:nvSpPr>
          <p:cNvPr id="37" name="TextBox 36"/>
          <p:cNvSpPr txBox="1"/>
          <p:nvPr/>
        </p:nvSpPr>
        <p:spPr>
          <a:xfrm>
            <a:off x="8321040" y="4828032"/>
            <a:ext cx="3611880" cy="530352"/>
          </a:xfrm>
          <a:prstGeom prst="rect">
            <a:avLst/>
          </a:prstGeom>
          <a:noFill/>
        </p:spPr>
        <p:txBody>
          <a:bodyPr wrap="square">
            <a:spAutoFit/>
          </a:bodyPr>
          <a:lstStyle/>
          <a:p>
            <a:pPr algn="l"/>
            <a:r>
              <a:rPr sz="1150" b="0" i="0">
                <a:solidFill>
                  <a:srgbClr val="212121"/>
                </a:solidFill>
                <a:latin typeface="Calibri"/>
              </a:rPr>
              <a:t>▸  Deploy on FastAPI + Docker instead of Gradio for scale</a:t>
            </a:r>
          </a:p>
        </p:txBody>
      </p:sp>
      <p:sp>
        <p:nvSpPr>
          <p:cNvPr id="38" name="TextBox 37"/>
          <p:cNvSpPr txBox="1"/>
          <p:nvPr/>
        </p:nvSpPr>
        <p:spPr>
          <a:xfrm>
            <a:off x="8321040" y="5376672"/>
            <a:ext cx="3611880" cy="530352"/>
          </a:xfrm>
          <a:prstGeom prst="rect">
            <a:avLst/>
          </a:prstGeom>
          <a:noFill/>
        </p:spPr>
        <p:txBody>
          <a:bodyPr wrap="square">
            <a:spAutoFit/>
          </a:bodyPr>
          <a:lstStyle/>
          <a:p>
            <a:pPr algn="l"/>
            <a:r>
              <a:rPr sz="1150" b="0" i="0">
                <a:solidFill>
                  <a:srgbClr val="212121"/>
                </a:solidFill>
                <a:latin typeface="Calibri"/>
              </a:rPr>
              <a:t>▸  Real-time webcam emotion monitoring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6656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863840" y="0"/>
            <a:ext cx="4325112" cy="6858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7132320" cy="914400"/>
          </a:xfrm>
          <a:prstGeom prst="rect">
            <a:avLst/>
          </a:prstGeom>
          <a:noFill/>
        </p:spPr>
        <p:txBody>
          <a:bodyPr wrap="square">
            <a:spAutoFit/>
          </a:bodyPr>
          <a:lstStyle/>
          <a:p>
            <a:pPr algn="l"/>
            <a:r>
              <a:rPr sz="5200" b="1" i="0">
                <a:solidFill>
                  <a:srgbClr val="FFFFFF"/>
                </a:solidFill>
                <a:latin typeface="Calibri"/>
              </a:rPr>
              <a:t>Thank You</a:t>
            </a:r>
          </a:p>
        </p:txBody>
      </p:sp>
      <p:sp>
        <p:nvSpPr>
          <p:cNvPr id="7" name="TextBox 6"/>
          <p:cNvSpPr txBox="1"/>
          <p:nvPr/>
        </p:nvSpPr>
        <p:spPr>
          <a:xfrm>
            <a:off x="457200" y="2633472"/>
            <a:ext cx="7132320" cy="457200"/>
          </a:xfrm>
          <a:prstGeom prst="rect">
            <a:avLst/>
          </a:prstGeom>
          <a:noFill/>
        </p:spPr>
        <p:txBody>
          <a:bodyPr wrap="square">
            <a:spAutoFit/>
          </a:bodyPr>
          <a:lstStyle/>
          <a:p>
            <a:pPr algn="l"/>
            <a:r>
              <a:rPr sz="2400" b="0" i="0">
                <a:solidFill>
                  <a:srgbClr val="F59E0B"/>
                </a:solidFill>
                <a:latin typeface="Calibri"/>
              </a:rPr>
              <a:t>Questions &amp; Discussion</a:t>
            </a:r>
          </a:p>
        </p:txBody>
      </p:sp>
      <p:sp>
        <p:nvSpPr>
          <p:cNvPr id="8" name="Rectangle 7"/>
          <p:cNvSpPr/>
          <p:nvPr/>
        </p:nvSpPr>
        <p:spPr>
          <a:xfrm>
            <a:off x="457200" y="3246120"/>
            <a:ext cx="3200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429000"/>
            <a:ext cx="6858000" cy="475488"/>
          </a:xfrm>
          <a:prstGeom prst="rect">
            <a:avLst/>
          </a:prstGeom>
          <a:noFill/>
        </p:spPr>
        <p:txBody>
          <a:bodyPr wrap="square">
            <a:spAutoFit/>
          </a:bodyPr>
          <a:lstStyle/>
          <a:p>
            <a:pPr algn="l"/>
            <a:r>
              <a:rPr sz="2200" b="1" i="0">
                <a:solidFill>
                  <a:srgbClr val="FFFFFF"/>
                </a:solidFill>
                <a:latin typeface="Calibri"/>
              </a:rPr>
              <a:t>Vishal Kumar Singh</a:t>
            </a:r>
          </a:p>
        </p:txBody>
      </p:sp>
      <p:sp>
        <p:nvSpPr>
          <p:cNvPr id="10" name="TextBox 9"/>
          <p:cNvSpPr txBox="1"/>
          <p:nvPr/>
        </p:nvSpPr>
        <p:spPr>
          <a:xfrm>
            <a:off x="457200" y="3950208"/>
            <a:ext cx="6858000" cy="292608"/>
          </a:xfrm>
          <a:prstGeom prst="rect">
            <a:avLst/>
          </a:prstGeom>
          <a:noFill/>
        </p:spPr>
        <p:txBody>
          <a:bodyPr wrap="square">
            <a:spAutoFit/>
          </a:bodyPr>
          <a:lstStyle/>
          <a:p>
            <a:pPr algn="l"/>
            <a:r>
              <a:rPr sz="1300" b="0" i="0">
                <a:solidFill>
                  <a:srgbClr val="B2DFDB"/>
                </a:solidFill>
                <a:latin typeface="Calibri"/>
              </a:rPr>
              <a:t>AlmaBetter  |  M.Sc. Data Science  |  2026</a:t>
            </a:r>
          </a:p>
        </p:txBody>
      </p:sp>
      <p:sp>
        <p:nvSpPr>
          <p:cNvPr id="11" name="TextBox 10"/>
          <p:cNvSpPr txBox="1"/>
          <p:nvPr/>
        </p:nvSpPr>
        <p:spPr>
          <a:xfrm>
            <a:off x="8092440" y="1280160"/>
            <a:ext cx="3749039" cy="438912"/>
          </a:xfrm>
          <a:prstGeom prst="rect">
            <a:avLst/>
          </a:prstGeom>
          <a:noFill/>
        </p:spPr>
        <p:txBody>
          <a:bodyPr wrap="square">
            <a:spAutoFit/>
          </a:bodyPr>
          <a:lstStyle/>
          <a:p>
            <a:pPr algn="l"/>
            <a:r>
              <a:rPr sz="1250" b="0" i="0">
                <a:solidFill>
                  <a:srgbClr val="FFFFFF"/>
                </a:solidFill>
                <a:latin typeface="Calibri"/>
              </a:rPr>
              <a:t>✓ FER2013: 35,887 images, 7 emotion classes</a:t>
            </a:r>
          </a:p>
        </p:txBody>
      </p:sp>
      <p:sp>
        <p:nvSpPr>
          <p:cNvPr id="12" name="TextBox 11"/>
          <p:cNvSpPr txBox="1"/>
          <p:nvPr/>
        </p:nvSpPr>
        <p:spPr>
          <a:xfrm>
            <a:off x="8092440" y="1865376"/>
            <a:ext cx="3749039" cy="438912"/>
          </a:xfrm>
          <a:prstGeom prst="rect">
            <a:avLst/>
          </a:prstGeom>
          <a:noFill/>
        </p:spPr>
        <p:txBody>
          <a:bodyPr wrap="square">
            <a:spAutoFit/>
          </a:bodyPr>
          <a:lstStyle/>
          <a:p>
            <a:pPr algn="l"/>
            <a:r>
              <a:rPr sz="1250" b="0" i="0">
                <a:solidFill>
                  <a:srgbClr val="FFFFFF"/>
                </a:solidFill>
                <a:latin typeface="Calibri"/>
              </a:rPr>
              <a:t>✓ CNN: Conv2D(64→128→512) + BN + GAP + Dense</a:t>
            </a:r>
          </a:p>
        </p:txBody>
      </p:sp>
      <p:sp>
        <p:nvSpPr>
          <p:cNvPr id="13" name="TextBox 12"/>
          <p:cNvSpPr txBox="1"/>
          <p:nvPr/>
        </p:nvSpPr>
        <p:spPr>
          <a:xfrm>
            <a:off x="8092440" y="2450592"/>
            <a:ext cx="3749039" cy="438912"/>
          </a:xfrm>
          <a:prstGeom prst="rect">
            <a:avLst/>
          </a:prstGeom>
          <a:noFill/>
        </p:spPr>
        <p:txBody>
          <a:bodyPr wrap="square">
            <a:spAutoFit/>
          </a:bodyPr>
          <a:lstStyle/>
          <a:p>
            <a:pPr algn="l"/>
            <a:r>
              <a:rPr sz="1250" b="0" i="0">
                <a:solidFill>
                  <a:srgbClr val="FFFFFF"/>
                </a:solidFill>
                <a:latin typeface="Calibri"/>
              </a:rPr>
              <a:t>✓ Augmentation: rotation, zoom, flip, brightness</a:t>
            </a:r>
          </a:p>
        </p:txBody>
      </p:sp>
      <p:sp>
        <p:nvSpPr>
          <p:cNvPr id="14" name="TextBox 13"/>
          <p:cNvSpPr txBox="1"/>
          <p:nvPr/>
        </p:nvSpPr>
        <p:spPr>
          <a:xfrm>
            <a:off x="8092440" y="3035808"/>
            <a:ext cx="3749039" cy="438912"/>
          </a:xfrm>
          <a:prstGeom prst="rect">
            <a:avLst/>
          </a:prstGeom>
          <a:noFill/>
        </p:spPr>
        <p:txBody>
          <a:bodyPr wrap="square">
            <a:spAutoFit/>
          </a:bodyPr>
          <a:lstStyle/>
          <a:p>
            <a:pPr algn="l"/>
            <a:r>
              <a:rPr sz="1250" b="0" i="0">
                <a:solidFill>
                  <a:srgbClr val="FFFFFF"/>
                </a:solidFill>
                <a:latin typeface="Calibri"/>
              </a:rPr>
              <a:t>✓ Callbacks: ModelCheckpoint + EarlyStopping + ReduceLR</a:t>
            </a:r>
          </a:p>
        </p:txBody>
      </p:sp>
      <p:sp>
        <p:nvSpPr>
          <p:cNvPr id="15" name="TextBox 14"/>
          <p:cNvSpPr txBox="1"/>
          <p:nvPr/>
        </p:nvSpPr>
        <p:spPr>
          <a:xfrm>
            <a:off x="8092440" y="3621024"/>
            <a:ext cx="3749039" cy="438912"/>
          </a:xfrm>
          <a:prstGeom prst="rect">
            <a:avLst/>
          </a:prstGeom>
          <a:noFill/>
        </p:spPr>
        <p:txBody>
          <a:bodyPr wrap="square">
            <a:spAutoFit/>
          </a:bodyPr>
          <a:lstStyle/>
          <a:p>
            <a:pPr algn="l"/>
            <a:r>
              <a:rPr sz="1250" b="0" i="0">
                <a:solidFill>
                  <a:srgbClr val="FFFFFF"/>
                </a:solidFill>
                <a:latin typeface="Calibri"/>
              </a:rPr>
              <a:t>✓ Happy = highest F1; Disgust = lowest (547 samples)</a:t>
            </a:r>
          </a:p>
        </p:txBody>
      </p:sp>
      <p:sp>
        <p:nvSpPr>
          <p:cNvPr id="16" name="TextBox 15"/>
          <p:cNvSpPr txBox="1"/>
          <p:nvPr/>
        </p:nvSpPr>
        <p:spPr>
          <a:xfrm>
            <a:off x="8092440" y="4206240"/>
            <a:ext cx="3749039" cy="438912"/>
          </a:xfrm>
          <a:prstGeom prst="rect">
            <a:avLst/>
          </a:prstGeom>
          <a:noFill/>
        </p:spPr>
        <p:txBody>
          <a:bodyPr wrap="square">
            <a:spAutoFit/>
          </a:bodyPr>
          <a:lstStyle/>
          <a:p>
            <a:pPr algn="l"/>
            <a:r>
              <a:rPr sz="1250" b="0" i="0">
                <a:solidFill>
                  <a:srgbClr val="FFFFFF"/>
                </a:solidFill>
                <a:latin typeface="Calibri"/>
              </a:rPr>
              <a:t>✓ Fear/Surprise most confused (visually similar)</a:t>
            </a:r>
          </a:p>
        </p:txBody>
      </p:sp>
      <p:sp>
        <p:nvSpPr>
          <p:cNvPr id="17" name="TextBox 16"/>
          <p:cNvSpPr txBox="1"/>
          <p:nvPr/>
        </p:nvSpPr>
        <p:spPr>
          <a:xfrm>
            <a:off x="8092440" y="4791456"/>
            <a:ext cx="3749039" cy="438912"/>
          </a:xfrm>
          <a:prstGeom prst="rect">
            <a:avLst/>
          </a:prstGeom>
          <a:noFill/>
        </p:spPr>
        <p:txBody>
          <a:bodyPr wrap="square">
            <a:spAutoFit/>
          </a:bodyPr>
          <a:lstStyle/>
          <a:p>
            <a:pPr algn="l"/>
            <a:r>
              <a:rPr sz="1250" b="0" i="0">
                <a:solidFill>
                  <a:srgbClr val="FFFFFF"/>
                </a:solidFill>
                <a:latin typeface="Calibri"/>
              </a:rPr>
              <a:t>✓ Deployed via Gradio (shareable public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2963</Words>
  <Application>Microsoft Office PowerPoint</Application>
  <PresentationFormat>Custom</PresentationFormat>
  <Paragraphs>257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Vishal Singh</cp:lastModifiedBy>
  <cp:revision>3</cp:revision>
  <dcterms:created xsi:type="dcterms:W3CDTF">2013-01-27T09:14:16Z</dcterms:created>
  <dcterms:modified xsi:type="dcterms:W3CDTF">2026-06-27T21:46:54Z</dcterms:modified>
  <cp:category/>
</cp:coreProperties>
</file>